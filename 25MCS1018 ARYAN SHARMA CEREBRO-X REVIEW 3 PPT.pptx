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77" r:id="rId12"/>
    <p:sldId id="275" r:id="rId13"/>
    <p:sldId id="278" r:id="rId14"/>
    <p:sldId id="281" r:id="rId15"/>
    <p:sldId id="283" r:id="rId16"/>
    <p:sldId id="279" r:id="rId17"/>
    <p:sldId id="284" r:id="rId18"/>
    <p:sldId id="282" r:id="rId19"/>
    <p:sldId id="265" r:id="rId20"/>
    <p:sldId id="267" r:id="rId21"/>
    <p:sldId id="272" r:id="rId22"/>
    <p:sldId id="274" r:id="rId23"/>
    <p:sldId id="271" r:id="rId24"/>
  </p:sldIdLst>
  <p:sldSz cx="12801600" cy="7315200"/>
  <p:notesSz cx="6858000" cy="9144000"/>
  <p:defaultTextStyle>
    <a:defPPr lvl="0">
      <a:defRPr lang="en-US"/>
    </a:defPPr>
    <a:lvl1pPr marL="0" lv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lvl="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lvl="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lvl="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lvl="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lvl="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lvl="6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lvl="7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lvl="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 autoAdjust="0"/>
    <p:restoredTop sz="94660"/>
  </p:normalViewPr>
  <p:slideViewPr>
    <p:cSldViewPr snapToGrid="0">
      <p:cViewPr>
        <p:scale>
          <a:sx n="75" d="100"/>
          <a:sy n="75" d="100"/>
        </p:scale>
        <p:origin x="989" y="101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E4103-D868-498D-BB7B-ABDA25F974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8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lz.2019.02.007" TargetMode="External"/><Relationship Id="rId2" Type="http://schemas.openxmlformats.org/officeDocument/2006/relationships/hyperlink" Target="https://doi.org/10.1038/s41598-018-37769-z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0-74399-w" TargetMode="External"/><Relationship Id="rId2" Type="http://schemas.openxmlformats.org/officeDocument/2006/relationships/hyperlink" Target="https://doi.org/10.1016/j.jneumeth.2020.108701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alz.090685" TargetMode="External"/><Relationship Id="rId2" Type="http://schemas.openxmlformats.org/officeDocument/2006/relationships/hyperlink" Target="https://doi.org/10.1016/j.jalz.2018.06.223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893147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CEREBRO-X : An </a:t>
            </a:r>
            <a:r>
              <a:rPr lang="en-US" sz="3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Digital Brain Twin Framework for Alzheimer's Disease Progression Prediction</a:t>
            </a:r>
            <a:endParaRPr lang="en-US" sz="3900" b="1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4047884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 Tech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Dissertation – I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Presented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ARYAN SHARMA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25MCS1018)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 Computer Science and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Engineering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400" dirty="0" err="1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Sridevi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S.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Associate Professor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sz="2400" dirty="0"/>
              <a:t>.</a:t>
            </a:r>
          </a:p>
          <a:p>
            <a:endParaRPr lang="en-US" sz="2800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22B46767-127D-ED42-E12D-499907980F7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359910" y="1981200"/>
            <a:ext cx="4081780" cy="116522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TO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&amp; 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 APPROVAL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fontAlgn="ctr">
              <a:buFont typeface="Wingdings" panose="05000000000000000000" pitchFamily="2" charset="2"/>
              <a:buChar char="v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3920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 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0080" y="1568850"/>
            <a:ext cx="1152144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Alzheimer's disease is a progressive neurodegenerative disorder causing gradual cognitive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decline. Existing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mainly focus on static diagnosis/classification from individual MRI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scans.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fail to model patient-specific disease progression over time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MRI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clinical history and cognitive assessments are frequently analyzed separately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Many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 models provide predictions without sufficient interpretability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an explainable, longitudinal and personalized AI framework for Alzheimer's progression monitoring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Alzheimer's AI systems largely provide point-in-time predictions rather than a continuously evolving, explainable representation of an individual patient's disease progression.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3397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31520" y="1819583"/>
            <a:ext cx="1152144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(AD) is a progressive neurodegenerative disorder that causes memory loss, cognitive decline, and gradual loss of functional abilities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MRI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clinical assessments provide valuable information about structural and cognitive changes associated with disease progression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approaches mainly focus on disease classification or detection at a single point in time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These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often have limited ability to represent individual patient trajectories, integrate multiple data types, and explain their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an AI-powered Digital Brain Twin that integrates longitudinal MRI, clinical, and cognitive information to create a patient-specific representation of disease progression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aims to predict future progression, provide explainable insights, and support clinical decision-making.</a:t>
            </a:r>
            <a:endParaRPr kumimoji="0" lang="en-US" alt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36" y="11339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9346707"/>
              </p:ext>
            </p:extLst>
          </p:nvPr>
        </p:nvGraphicFramePr>
        <p:xfrm>
          <a:off x="712636" y="1230539"/>
          <a:ext cx="11498580" cy="6250716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38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42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028042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2348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26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Predicting Alzheimer’s Disease Progression Using Multi-Modal Deep Learning Approach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(Lee et al., 2019)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RNN; MRI + CSF + cognitive data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Longitudinal multimodal learning achieved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81% accuracy, AUC 0.86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MCI→AD prediction.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multiple data modalities.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8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Deep Learning Model for Early Prediction of Alzheimer’s Disease Dementia Based on Hippocampal MRI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(Li et al., 2019)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+ time-to-event analysis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C-index 0.762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 ADNI and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0.781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 AIBL; combining clinical measures increased C-index to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0.864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primarily on MCI→AD progression;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does not provide a continuously updated 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patient representation.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54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Residual Learning for Neuroimaging: An Application to Predict Progression to Alzheimer’s Disease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Abrol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2020)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domain transfer learning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83.01% test accuracy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progression-related MRI classification.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Primarily MRI-based classification;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multimodal and longitudinal patient modeling.</a:t>
                      </a:r>
                      <a:endParaRPr lang="en-US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09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Deep Learning for Alzheimer’s Disease Prediction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Basahel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2021)</a:t>
                      </a:r>
                      <a:endParaRPr lang="en-IN" sz="1600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deep learning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Demonstrated benefits of combining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MRI, clinical and genetic information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AD prediction.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remains prediction/classification rather than a continuously evolving Digital Brain Twin.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24176" y="6780107"/>
            <a:ext cx="2987040" cy="389467"/>
          </a:xfrm>
        </p:spPr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0677115"/>
              </p:ext>
            </p:extLst>
          </p:nvPr>
        </p:nvGraphicFramePr>
        <p:xfrm>
          <a:off x="665920" y="1540685"/>
          <a:ext cx="11495599" cy="552338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9327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0551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Longitudinal MRI-Based Alzheimer’s Disease Progression </a:t>
                      </a:r>
                      <a:r>
                        <a:rPr lang="en-IN" sz="16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(2024)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CNN +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Combines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spatial MRI features with temporal information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to model longitudinal disease progression.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Temporal modeling is present, but patient-specific Digital Twin representation and integrated clinical decision support are limited.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ROI Detection for Alzheimer’s Disease Prediction Using Explainable AI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Aghaei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al., 2023)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3D CNN + Grad-CAM + automatic ROI extraction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176 MCI ADNI subjects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reported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98.6% accuracy and AUC 1.0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using 5-fold CV.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Strong XAI component, but focused on ROI-based prediction rather than longitudinal Digital Twin modeling.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6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Integrated Predictive Model for Alzheimer’s Disease Progression from Cognitively Normal Subjects Using Generated MRI and Interpretable AI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Aghaei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Moghaddam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transfer learning +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-GAN + 3D CNN + Grad-CAM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Generated future MRI changes and predicted CN→AD progression; reported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0.85 accuracy and 0.86 F1-score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Synthetic MRI generation introduces additional assumptions; primarily focuses on progression prediction rather than a complete Digital Twin framework.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259374"/>
              </p:ext>
            </p:extLst>
          </p:nvPr>
        </p:nvGraphicFramePr>
        <p:xfrm>
          <a:off x="640080" y="1729526"/>
          <a:ext cx="11521440" cy="447487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1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5777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10925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Longitudinal MRI + </a:t>
                      </a:r>
                      <a:r>
                        <a:rPr lang="en-IN" sz="16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Radiomics</a:t>
                      </a:r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Alzheimer’s Progression Prediction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2400"/>
                        </a:spcAft>
                      </a:pP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Radiomics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longitudinal </a:t>
                      </a:r>
                      <a:r>
                        <a:rPr lang="en-IN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Shows that longitudinal structural MRI features can support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MCI→AD progression prediction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Hand-crafted/</a:t>
                      </a:r>
                      <a:r>
                        <a:rPr lang="en-US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radiomic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features may not capture the full multimodal patient representation.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MRI and Clinical Data for Prediction of 12-Month Cognitive Decline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(2026)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+ MRI + clinical features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Demonstrates the value of combining routine clinical variables with MRI for predicting near-term cognitive decline.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Short prediction horizon;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does not maintain a longitudinal Digital Brain Twin.</a:t>
                      </a:r>
                      <a:endParaRPr lang="en-US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Multimodal MRI + Clinical Explainable AI Framework</a:t>
                      </a:r>
                      <a:r>
                        <a:rPr lang="it-IT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(2026)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Transformer-based fusion + Grad-CAM + SHAP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Combines imaging and clinical information while providing both visual and feature-level explanations.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Explainability</a:t>
                      </a:r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multimodal fusion are addressed,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but continuous patient-specific Digital Twin modeling remains limited.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41799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0080" y="3623345"/>
            <a:ext cx="115214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759226"/>
            <a:ext cx="115214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Gaps: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Static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focus on diagnosis at a single time point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Patient Personalization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Population-level models do not fully represent an individual's disease trajectory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Fragmented Multimodal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MRI, clinical and cognitive information are often processed separately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Limited Longitudinal Modeling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do not maintain a continuously evolving patient representation.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often not sufficiently interpretable for clinical users.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Generalization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are evaluated within the same dataset rather than using independent cohorts.</a:t>
            </a:r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11981"/>
            <a:ext cx="11521440" cy="1219200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OBJECTIVES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0080" y="3623345"/>
            <a:ext cx="115214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759226"/>
            <a:ext cx="1152144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: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AI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MRI, EEG, and clinical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Alzheimer’s disease assessment.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classify cognitive impairment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estimate the current stage of Alzheimer’s disease using machine learning/deep learning techniques.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disease progression longitudinally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analyzing changes in patient data across multiple time points.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explainable and interpretable predictions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XAI techniques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and SHAP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clinicians understand the factors influencing the model’s decision</a:t>
            </a:r>
            <a:r>
              <a:rPr lang="en-US" dirty="0"/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PROPOSED </a:t>
            </a:r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SOLUTION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0080" y="1649376"/>
            <a:ext cx="1152144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proposes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AI-based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MRI scans, EEG signals, and clinical information to assess Alzheimer’s disease. This allows the system to use complementary information from different patient data sources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machine learning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cognitive impairment and classify the patient’s condition. It will also analyze longitudinal patient data to identify patterns and estimate possible disease progression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transparency,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will incorporate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techniques such as Grad-CAM and SHAP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which features influenced the prediction. This makes the system more interpretable and potentially useful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decision-support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/>
              <a:t>MRI + EEG + Clinical Data → Multimodal AI Model → Alzheimer’s Assessment → Progression Prediction → XAI Explanation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7235"/>
            <a:ext cx="11521440" cy="1219200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ARCHITECTURE 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0080" y="1313557"/>
            <a:ext cx="1152144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Cerebro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X: Proposed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longitudinal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clinical, cognitive, MRI, and EEG data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normalize, and align patient data across visits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meaningful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clinical, MRI-derived, and EEG spectral features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information from different modalities for a unified patient representation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Brain Twin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64-dimensional latent representation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evolves across patient visits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Progression Prediction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next-visit CDR stage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estimate disease progression/risk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interpretable predictions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SHAP-style clinical attribution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planned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Grad-CAM pipeline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&amp; Visualization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patient history, predictions, progression trends, and explanations through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dashboard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908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4311"/>
            <a:ext cx="12801600" cy="568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9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8. DATASET DESCRIPTION 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0080" y="4544833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74" y="1603661"/>
            <a:ext cx="11634746" cy="55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5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351722"/>
            <a:ext cx="11593753" cy="4813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627857"/>
            <a:ext cx="11593753" cy="1219200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MODULES DESCRIPTION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56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12" y="0"/>
            <a:ext cx="12831712" cy="740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EVALUATION METRICS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01600" cy="720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2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920" y="568960"/>
            <a:ext cx="94488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1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09600"/>
            <a:ext cx="10284178" cy="617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9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55" y="183617"/>
            <a:ext cx="11521440" cy="1219200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12. </a:t>
            </a:r>
            <a:r>
              <a:rPr lang="en-US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86055" y="6780107"/>
            <a:ext cx="2987040" cy="389467"/>
          </a:xfrm>
        </p:spPr>
        <p:txBody>
          <a:bodyPr/>
          <a:lstStyle/>
          <a:p>
            <a:fld id="{C02A2637-A5A3-49FA-B214-6E67543099E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927825"/>
              </p:ext>
            </p:extLst>
          </p:nvPr>
        </p:nvGraphicFramePr>
        <p:xfrm>
          <a:off x="651655" y="1595583"/>
          <a:ext cx="11521440" cy="548454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3077051069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4012796718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144362697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3244811884"/>
                    </a:ext>
                  </a:extLst>
                </a:gridCol>
              </a:tblGrid>
              <a:tr h="52408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Months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/ Activity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 / Expected Outcome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2636413"/>
                  </a:ext>
                </a:extLst>
              </a:tr>
              <a:tr h="524080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June–July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 &amp; Literature Review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and objectives identified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9466247"/>
                  </a:ext>
                </a:extLst>
              </a:tr>
              <a:tr h="755885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July–Aug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ADNI Dataset Collection &amp; Preprocessing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longitudinal dataset prepared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742505"/>
                  </a:ext>
                </a:extLst>
              </a:tr>
              <a:tr h="524080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Aug–Sep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 &amp; Multimodal Fusion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prediction model developed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88622"/>
                  </a:ext>
                </a:extLst>
              </a:tr>
              <a:tr h="755885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Brain Twin &amp; Progression Prediction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Patient-specific longitudinal model developed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773995"/>
                  </a:ext>
                </a:extLst>
              </a:tr>
              <a:tr h="755885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Sep–Oct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XAI + OASIS-3 External Validation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generalization evaluated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89379"/>
                  </a:ext>
                </a:extLst>
              </a:tr>
              <a:tr h="987690"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Evaluation, Dashboard, Paper &amp; Thesis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results, prototype and documentation completed</a:t>
                      </a:r>
                    </a:p>
                  </a:txBody>
                  <a:tcPr marL="60471" marR="60471" marT="30235" marB="30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18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0080" y="1724451"/>
            <a:ext cx="1152144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Lee, G., </a:t>
            </a:r>
            <a:r>
              <a:rPr lang="en-IN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Nho</a:t>
            </a:r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K., Kang, B., </a:t>
            </a:r>
            <a:r>
              <a:rPr lang="en-IN" b="1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</a:t>
            </a:r>
            <a:r>
              <a:rPr lang="en-IN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K.-A., &amp; Kim, D. (2019). </a:t>
            </a:r>
            <a:r>
              <a:rPr lang="en-IN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Alzheimer’s disease progression using multi-modal deep learning approach. Scientific Reports, 9, 1952. </a:t>
            </a:r>
            <a:r>
              <a:rPr lang="en-IN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doi.org/10.1038/s41598-018-37769-z</a:t>
            </a: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H.,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Fan, Y., et al. (2019).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deep learning model for early prediction of Alzheimer’s disease dementia based on hippocampal MRI.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&amp; Dementia, 15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1059–1070.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doi.org/10.1016/j.jalz.2019.02.007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H., Fan, Y., &amp; Alzheimer’s Disease Neuroimaging Initiative. (2019).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prediction of Alzheimer’s disease dementia based on baseline hippocampal MRI and 1-year follow-up cognitive measures using deep recurrent neural networks.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IEEE International Symposium on Biomedical Imaging (ISBI)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368–371. https://doi.org/10.1109/ISBI.2019.8759397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..)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40080" y="1628503"/>
            <a:ext cx="1152144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Fedorov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(2020).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residual learning for neuroimaging: An application to predict progression to Alzheimer’s disease.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Neuroscience Methods, 339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108701.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doi.org/10.1016/j.jneumeth.2020.108701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Venugopalan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Tong, L.,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Hassanzadeh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R., &amp; Wang, M. D. (2021).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Multimodal deep learning models for early detection of Alzheimer’s disease stage.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3254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doi.org/10.1038/s41598-020-74399-w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Aghaei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Ebrahimi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Moghaddam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(2023).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ROI detection for Alzheimer’s disease prediction using explainable AI.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[Preprint]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&amp; Zhang, H. (2026).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Machine-learning prediction and risk stratification of 12-month cognitive decline in Alzheimer’s disease using routine clinical and MRI data.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12227. https://doi.org/10.1038/s41598-026-43321-1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7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</a:t>
            </a:r>
            <a:r>
              <a:rPr lang="en-US" sz="37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..)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40080" y="1812175"/>
            <a:ext cx="1152144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LaMontagne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J., et al. (2018).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OASIS-3: Longitudinal neuroimaging, clinical, and cognitive dataset for normal aging and Alzheimer’s disease.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&amp; Dementia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doi.org/10.1016/j.jalz.2018.06.2231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D., Florian, H., Lynch, S. Y., et al.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 of AI-generated digital twin methodology on reduction of treatment effect variance and potential clinical trial sample size saving using a Phase 2 trial dataset from patients with Alzheimer’s disease.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&amp; Dementia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doi.org/10.1002/alz.090685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Y., Zhang, Y.,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Michopoulou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Kipps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Attar, R. (2026).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Transition-based digital twin modelling for Alzheimer’s disease under sparse longitudinal data.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38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10118</TotalTime>
  <Words>1930</Words>
  <Application>Microsoft Office PowerPoint</Application>
  <PresentationFormat>Custom</PresentationFormat>
  <Paragraphs>212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CEREBRO-X : An AI-Powered Digital Brain Twin Framework for Alzheimer's Disease Progression Prediction</vt:lpstr>
      <vt:lpstr>CONTENTS</vt:lpstr>
      <vt:lpstr>1. PROBLEM STATEMENT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PROPOSED SOLUTION </vt:lpstr>
      <vt:lpstr>7. ARCHITECTURE </vt:lpstr>
      <vt:lpstr>PowerPoint Presentation</vt:lpstr>
      <vt:lpstr>8. DATASET DESCRIPTION </vt:lpstr>
      <vt:lpstr>9. MODULES DESCRIPTION</vt:lpstr>
      <vt:lpstr>PowerPoint Presentation</vt:lpstr>
      <vt:lpstr>11. EVALUATION METRICS</vt:lpstr>
      <vt:lpstr>PowerPoint Presentation</vt:lpstr>
      <vt:lpstr>PowerPoint Presentation</vt:lpstr>
      <vt:lpstr>12. TIMELINE / GANTT CHART</vt:lpstr>
      <vt:lpstr>13. REFERENCES</vt:lpstr>
      <vt:lpstr>REFERENCES (CONTD..)</vt:lpstr>
      <vt:lpstr>REFERENCES (CONTD..)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Brain Tumor Detection from MRI Images Using Deep Learning and Flask</dc:title>
  <dc:creator>HP</dc:creator>
  <cp:lastModifiedBy>HP</cp:lastModifiedBy>
  <cp:revision>72</cp:revision>
  <dcterms:modified xsi:type="dcterms:W3CDTF">2026-10-01T07:46:39Z</dcterms:modified>
</cp:coreProperties>
</file>