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6" r:id="rId10"/>
    <p:sldId id="264" r:id="rId11"/>
    <p:sldId id="277" r:id="rId12"/>
    <p:sldId id="275" r:id="rId13"/>
    <p:sldId id="265" r:id="rId14"/>
    <p:sldId id="267" r:id="rId15"/>
    <p:sldId id="272" r:id="rId16"/>
    <p:sldId id="274" r:id="rId17"/>
    <p:sldId id="271" r:id="rId18"/>
  </p:sldIdLst>
  <p:sldSz cx="12801600" cy="7315200"/>
  <p:notesSz cx="6858000" cy="9144000"/>
  <p:defaultTextStyle>
    <a:defPPr lvl="0">
      <a:defRPr lang="en-US"/>
    </a:defPPr>
    <a:lvl1pPr marL="0" lvl="0" algn="l" defTabSz="1149448" rtl="0" eaLnBrk="1" latinLnBrk="0" hangingPunct="1">
      <a:defRPr sz="2300" kern="1200">
        <a:solidFill>
          <a:schemeClr val="tx1"/>
        </a:solidFill>
        <a:latin typeface="+mn-lt"/>
        <a:ea typeface="+mn-ea"/>
        <a:cs typeface="+mn-cs"/>
      </a:defRPr>
    </a:lvl1pPr>
    <a:lvl2pPr marL="574724" lvl="1" algn="l" defTabSz="1149448" rtl="0" eaLnBrk="1" latinLnBrk="0" hangingPunct="1">
      <a:defRPr sz="2300" kern="1200">
        <a:solidFill>
          <a:schemeClr val="tx1"/>
        </a:solidFill>
        <a:latin typeface="+mn-lt"/>
        <a:ea typeface="+mn-ea"/>
        <a:cs typeface="+mn-cs"/>
      </a:defRPr>
    </a:lvl2pPr>
    <a:lvl3pPr marL="1149448" lvl="2" algn="l" defTabSz="1149448" rtl="0" eaLnBrk="1" latinLnBrk="0" hangingPunct="1">
      <a:defRPr sz="2300" kern="1200">
        <a:solidFill>
          <a:schemeClr val="tx1"/>
        </a:solidFill>
        <a:latin typeface="+mn-lt"/>
        <a:ea typeface="+mn-ea"/>
        <a:cs typeface="+mn-cs"/>
      </a:defRPr>
    </a:lvl3pPr>
    <a:lvl4pPr marL="1724172" lvl="3" algn="l" defTabSz="1149448" rtl="0" eaLnBrk="1" latinLnBrk="0" hangingPunct="1">
      <a:defRPr sz="2300" kern="1200">
        <a:solidFill>
          <a:schemeClr val="tx1"/>
        </a:solidFill>
        <a:latin typeface="+mn-lt"/>
        <a:ea typeface="+mn-ea"/>
        <a:cs typeface="+mn-cs"/>
      </a:defRPr>
    </a:lvl4pPr>
    <a:lvl5pPr marL="2298895" lvl="4" algn="l" defTabSz="1149448" rtl="0" eaLnBrk="1" latinLnBrk="0" hangingPunct="1">
      <a:defRPr sz="2300" kern="1200">
        <a:solidFill>
          <a:schemeClr val="tx1"/>
        </a:solidFill>
        <a:latin typeface="+mn-lt"/>
        <a:ea typeface="+mn-ea"/>
        <a:cs typeface="+mn-cs"/>
      </a:defRPr>
    </a:lvl5pPr>
    <a:lvl6pPr marL="2873621" lvl="5" algn="l" defTabSz="1149448" rtl="0" eaLnBrk="1" latinLnBrk="0" hangingPunct="1">
      <a:defRPr sz="2300" kern="1200">
        <a:solidFill>
          <a:schemeClr val="tx1"/>
        </a:solidFill>
        <a:latin typeface="+mn-lt"/>
        <a:ea typeface="+mn-ea"/>
        <a:cs typeface="+mn-cs"/>
      </a:defRPr>
    </a:lvl6pPr>
    <a:lvl7pPr marL="3448344" lvl="6" algn="l" defTabSz="1149448" rtl="0" eaLnBrk="1" latinLnBrk="0" hangingPunct="1">
      <a:defRPr sz="2300" kern="1200">
        <a:solidFill>
          <a:schemeClr val="tx1"/>
        </a:solidFill>
        <a:latin typeface="+mn-lt"/>
        <a:ea typeface="+mn-ea"/>
        <a:cs typeface="+mn-cs"/>
      </a:defRPr>
    </a:lvl7pPr>
    <a:lvl8pPr marL="4023069" lvl="7" algn="l" defTabSz="1149448" rtl="0" eaLnBrk="1" latinLnBrk="0" hangingPunct="1">
      <a:defRPr sz="2300" kern="1200">
        <a:solidFill>
          <a:schemeClr val="tx1"/>
        </a:solidFill>
        <a:latin typeface="+mn-lt"/>
        <a:ea typeface="+mn-ea"/>
        <a:cs typeface="+mn-cs"/>
      </a:defRPr>
    </a:lvl8pPr>
    <a:lvl9pPr marL="4597793" lvl="8" algn="l" defTabSz="1149448" rtl="0" eaLnBrk="1" latinLnBrk="0" hangingPunct="1">
      <a:defRPr sz="23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04">
          <p15:clr>
            <a:srgbClr val="A4A3A4"/>
          </p15:clr>
        </p15:guide>
        <p15:guide id="2" pos="403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555" autoAdjust="0"/>
    <p:restoredTop sz="94660"/>
  </p:normalViewPr>
  <p:slideViewPr>
    <p:cSldViewPr snapToGrid="0">
      <p:cViewPr varScale="1">
        <p:scale>
          <a:sx n="77" d="100"/>
          <a:sy n="77" d="100"/>
        </p:scale>
        <p:origin x="922" y="62"/>
      </p:cViewPr>
      <p:guideLst>
        <p:guide orient="horz" pos="2304"/>
        <p:guide pos="403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CD7A36-15CF-4B40-B7C9-B299C824610E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8625" y="685800"/>
            <a:ext cx="6000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DE4103-D868-498D-BB7B-ABDA25F974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63654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149448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1pPr>
    <a:lvl2pPr marL="574724" algn="l" defTabSz="1149448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2pPr>
    <a:lvl3pPr marL="1149448" algn="l" defTabSz="1149448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3pPr>
    <a:lvl4pPr marL="1724172" algn="l" defTabSz="1149448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4pPr>
    <a:lvl5pPr marL="2298895" algn="l" defTabSz="1149448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5pPr>
    <a:lvl6pPr marL="2873621" algn="l" defTabSz="1149448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6pPr>
    <a:lvl7pPr marL="3448344" algn="l" defTabSz="1149448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7pPr>
    <a:lvl8pPr marL="4023069" algn="l" defTabSz="1149448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8pPr>
    <a:lvl9pPr marL="4597793" algn="l" defTabSz="1149448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DE4103-D868-498D-BB7B-ABDA25F9744E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64862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60120" y="2272456"/>
            <a:ext cx="10881360" cy="156802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20240" y="4145280"/>
            <a:ext cx="8961120" cy="186944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5747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1494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7241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29889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87362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4483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02306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5977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E1E87-9C15-4984-91E0-215221CAF7F6}" type="datetime1">
              <a:rPr lang="en-US" smtClean="0"/>
              <a:t>8/9/2026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58825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116BE9-D6CB-4D14-A12D-7F5512E1435B}" type="datetime1">
              <a:rPr lang="en-US" smtClean="0"/>
              <a:t>8/9/2026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10616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1238" y="4700695"/>
            <a:ext cx="10881360" cy="1452880"/>
          </a:xfrm>
        </p:spPr>
        <p:txBody>
          <a:bodyPr anchor="t"/>
          <a:lstStyle>
            <a:lvl1pPr algn="l">
              <a:defRPr sz="51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1238" y="3100496"/>
            <a:ext cx="10881360" cy="1600199"/>
          </a:xfrm>
        </p:spPr>
        <p:txBody>
          <a:bodyPr anchor="b"/>
          <a:lstStyle>
            <a:lvl1pPr marL="0" indent="0">
              <a:buNone/>
              <a:defRPr sz="2500">
                <a:solidFill>
                  <a:schemeClr val="tx1">
                    <a:tint val="75000"/>
                  </a:schemeClr>
                </a:solidFill>
              </a:defRPr>
            </a:lvl1pPr>
            <a:lvl2pPr marL="574724" indent="0">
              <a:buNone/>
              <a:defRPr sz="2300">
                <a:solidFill>
                  <a:schemeClr val="tx1">
                    <a:tint val="75000"/>
                  </a:schemeClr>
                </a:solidFill>
              </a:defRPr>
            </a:lvl2pPr>
            <a:lvl3pPr marL="1149448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3pPr>
            <a:lvl4pPr marL="1724172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4pPr>
            <a:lvl5pPr marL="2298895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5pPr>
            <a:lvl6pPr marL="2873621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6pPr>
            <a:lvl7pPr marL="344834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7pPr>
            <a:lvl8pPr marL="402306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8pPr>
            <a:lvl9pPr marL="4597793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2A9D04-24B9-408C-A000-3B78FDBD0AEB}" type="datetime1">
              <a:rPr lang="en-US" smtClean="0"/>
              <a:t>8/9/2026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60235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40080" y="1706880"/>
            <a:ext cx="5654040" cy="4827694"/>
          </a:xfrm>
        </p:spPr>
        <p:txBody>
          <a:bodyPr/>
          <a:lstStyle>
            <a:lvl1pPr>
              <a:defRPr sz="3500"/>
            </a:lvl1pPr>
            <a:lvl2pPr>
              <a:defRPr sz="3000"/>
            </a:lvl2pPr>
            <a:lvl3pPr>
              <a:defRPr sz="2500"/>
            </a:lvl3pPr>
            <a:lvl4pPr>
              <a:defRPr sz="2300"/>
            </a:lvl4pPr>
            <a:lvl5pPr>
              <a:defRPr sz="2300"/>
            </a:lvl5pPr>
            <a:lvl6pPr>
              <a:defRPr sz="2300"/>
            </a:lvl6pPr>
            <a:lvl7pPr>
              <a:defRPr sz="2300"/>
            </a:lvl7pPr>
            <a:lvl8pPr>
              <a:defRPr sz="2300"/>
            </a:lvl8pPr>
            <a:lvl9pPr>
              <a:defRPr sz="2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07480" y="1706880"/>
            <a:ext cx="5654040" cy="4827694"/>
          </a:xfrm>
        </p:spPr>
        <p:txBody>
          <a:bodyPr/>
          <a:lstStyle>
            <a:lvl1pPr>
              <a:defRPr sz="3500"/>
            </a:lvl1pPr>
            <a:lvl2pPr>
              <a:defRPr sz="3000"/>
            </a:lvl2pPr>
            <a:lvl3pPr>
              <a:defRPr sz="2500"/>
            </a:lvl3pPr>
            <a:lvl4pPr>
              <a:defRPr sz="2300"/>
            </a:lvl4pPr>
            <a:lvl5pPr>
              <a:defRPr sz="2300"/>
            </a:lvl5pPr>
            <a:lvl6pPr>
              <a:defRPr sz="2300"/>
            </a:lvl6pPr>
            <a:lvl7pPr>
              <a:defRPr sz="2300"/>
            </a:lvl7pPr>
            <a:lvl8pPr>
              <a:defRPr sz="2300"/>
            </a:lvl8pPr>
            <a:lvl9pPr>
              <a:defRPr sz="2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B91B48-F2B5-44C0-A324-732125246729}" type="datetime1">
              <a:rPr lang="en-US" smtClean="0"/>
              <a:t>8/9/2026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98333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0080" y="1637454"/>
            <a:ext cx="5656263" cy="682414"/>
          </a:xfrm>
        </p:spPr>
        <p:txBody>
          <a:bodyPr anchor="b"/>
          <a:lstStyle>
            <a:lvl1pPr marL="0" indent="0">
              <a:buNone/>
              <a:defRPr sz="3000" b="1"/>
            </a:lvl1pPr>
            <a:lvl2pPr marL="574724" indent="0">
              <a:buNone/>
              <a:defRPr sz="2500" b="1"/>
            </a:lvl2pPr>
            <a:lvl3pPr marL="1149448" indent="0">
              <a:buNone/>
              <a:defRPr sz="2300" b="1"/>
            </a:lvl3pPr>
            <a:lvl4pPr marL="1724172" indent="0">
              <a:buNone/>
              <a:defRPr sz="2000" b="1"/>
            </a:lvl4pPr>
            <a:lvl5pPr marL="2298895" indent="0">
              <a:buNone/>
              <a:defRPr sz="2000" b="1"/>
            </a:lvl5pPr>
            <a:lvl6pPr marL="2873621" indent="0">
              <a:buNone/>
              <a:defRPr sz="2000" b="1"/>
            </a:lvl6pPr>
            <a:lvl7pPr marL="3448344" indent="0">
              <a:buNone/>
              <a:defRPr sz="2000" b="1"/>
            </a:lvl7pPr>
            <a:lvl8pPr marL="4023069" indent="0">
              <a:buNone/>
              <a:defRPr sz="2000" b="1"/>
            </a:lvl8pPr>
            <a:lvl9pPr marL="4597793" indent="0">
              <a:buNone/>
              <a:defRPr sz="20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0080" y="2319868"/>
            <a:ext cx="5656263" cy="4214707"/>
          </a:xfrm>
        </p:spPr>
        <p:txBody>
          <a:bodyPr/>
          <a:lstStyle>
            <a:lvl1pPr>
              <a:defRPr sz="3000"/>
            </a:lvl1pPr>
            <a:lvl2pPr>
              <a:defRPr sz="2500"/>
            </a:lvl2pPr>
            <a:lvl3pPr>
              <a:defRPr sz="23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03037" y="1637454"/>
            <a:ext cx="5658485" cy="682414"/>
          </a:xfrm>
        </p:spPr>
        <p:txBody>
          <a:bodyPr anchor="b"/>
          <a:lstStyle>
            <a:lvl1pPr marL="0" indent="0">
              <a:buNone/>
              <a:defRPr sz="3000" b="1"/>
            </a:lvl1pPr>
            <a:lvl2pPr marL="574724" indent="0">
              <a:buNone/>
              <a:defRPr sz="2500" b="1"/>
            </a:lvl2pPr>
            <a:lvl3pPr marL="1149448" indent="0">
              <a:buNone/>
              <a:defRPr sz="2300" b="1"/>
            </a:lvl3pPr>
            <a:lvl4pPr marL="1724172" indent="0">
              <a:buNone/>
              <a:defRPr sz="2000" b="1"/>
            </a:lvl4pPr>
            <a:lvl5pPr marL="2298895" indent="0">
              <a:buNone/>
              <a:defRPr sz="2000" b="1"/>
            </a:lvl5pPr>
            <a:lvl6pPr marL="2873621" indent="0">
              <a:buNone/>
              <a:defRPr sz="2000" b="1"/>
            </a:lvl6pPr>
            <a:lvl7pPr marL="3448344" indent="0">
              <a:buNone/>
              <a:defRPr sz="2000" b="1"/>
            </a:lvl7pPr>
            <a:lvl8pPr marL="4023069" indent="0">
              <a:buNone/>
              <a:defRPr sz="2000" b="1"/>
            </a:lvl8pPr>
            <a:lvl9pPr marL="4597793" indent="0">
              <a:buNone/>
              <a:defRPr sz="20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03037" y="2319868"/>
            <a:ext cx="5658485" cy="4214707"/>
          </a:xfrm>
        </p:spPr>
        <p:txBody>
          <a:bodyPr/>
          <a:lstStyle>
            <a:lvl1pPr>
              <a:defRPr sz="3000"/>
            </a:lvl1pPr>
            <a:lvl2pPr>
              <a:defRPr sz="2500"/>
            </a:lvl2pPr>
            <a:lvl3pPr>
              <a:defRPr sz="23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37E91-F602-4F18-92CA-FB1A231376B0}" type="datetime1">
              <a:rPr lang="en-US" smtClean="0"/>
              <a:t>8/9/2026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3677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818EFE-411D-495F-AE32-482368671348}" type="datetime1">
              <a:rPr lang="en-US" smtClean="0"/>
              <a:t>8/9/2026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62177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129DD-E279-4A67-BA32-75987FE76FB7}" type="datetime1">
              <a:rPr lang="en-US" smtClean="0"/>
              <a:t>8/9/2026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40107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2" y="291252"/>
            <a:ext cx="4211638" cy="1239521"/>
          </a:xfrm>
        </p:spPr>
        <p:txBody>
          <a:bodyPr anchor="b"/>
          <a:lstStyle>
            <a:lvl1pPr algn="l">
              <a:defRPr sz="2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05070" y="291255"/>
            <a:ext cx="7156450" cy="6243321"/>
          </a:xfrm>
        </p:spPr>
        <p:txBody>
          <a:bodyPr/>
          <a:lstStyle>
            <a:lvl1pPr>
              <a:defRPr sz="3900"/>
            </a:lvl1pPr>
            <a:lvl2pPr>
              <a:defRPr sz="3500"/>
            </a:lvl2pPr>
            <a:lvl3pPr>
              <a:defRPr sz="3000"/>
            </a:lvl3pPr>
            <a:lvl4pPr>
              <a:defRPr sz="2500"/>
            </a:lvl4pPr>
            <a:lvl5pPr>
              <a:defRPr sz="2500"/>
            </a:lvl5pPr>
            <a:lvl6pPr>
              <a:defRPr sz="2500"/>
            </a:lvl6pPr>
            <a:lvl7pPr>
              <a:defRPr sz="2500"/>
            </a:lvl7pPr>
            <a:lvl8pPr>
              <a:defRPr sz="2500"/>
            </a:lvl8pPr>
            <a:lvl9pPr>
              <a:defRPr sz="2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0082" y="1530775"/>
            <a:ext cx="4211638" cy="5003802"/>
          </a:xfrm>
        </p:spPr>
        <p:txBody>
          <a:bodyPr/>
          <a:lstStyle>
            <a:lvl1pPr marL="0" indent="0">
              <a:buNone/>
              <a:defRPr sz="1800"/>
            </a:lvl1pPr>
            <a:lvl2pPr marL="574724" indent="0">
              <a:buNone/>
              <a:defRPr sz="1500"/>
            </a:lvl2pPr>
            <a:lvl3pPr marL="1149448" indent="0">
              <a:buNone/>
              <a:defRPr sz="1300"/>
            </a:lvl3pPr>
            <a:lvl4pPr marL="1724172" indent="0">
              <a:buNone/>
              <a:defRPr sz="1100"/>
            </a:lvl4pPr>
            <a:lvl5pPr marL="2298895" indent="0">
              <a:buNone/>
              <a:defRPr sz="1100"/>
            </a:lvl5pPr>
            <a:lvl6pPr marL="2873621" indent="0">
              <a:buNone/>
              <a:defRPr sz="1100"/>
            </a:lvl6pPr>
            <a:lvl7pPr marL="3448344" indent="0">
              <a:buNone/>
              <a:defRPr sz="1100"/>
            </a:lvl7pPr>
            <a:lvl8pPr marL="4023069" indent="0">
              <a:buNone/>
              <a:defRPr sz="1100"/>
            </a:lvl8pPr>
            <a:lvl9pPr marL="4597793" indent="0">
              <a:buNone/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7BA02B-9B73-458F-B848-E99C8FA83242}" type="datetime1">
              <a:rPr lang="en-US" smtClean="0"/>
              <a:t>8/9/2026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49433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09203" y="5120640"/>
            <a:ext cx="7680960" cy="604521"/>
          </a:xfrm>
        </p:spPr>
        <p:txBody>
          <a:bodyPr anchor="b"/>
          <a:lstStyle>
            <a:lvl1pPr algn="l">
              <a:defRPr sz="2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509203" y="653626"/>
            <a:ext cx="7680960" cy="4389120"/>
          </a:xfrm>
        </p:spPr>
        <p:txBody>
          <a:bodyPr/>
          <a:lstStyle>
            <a:lvl1pPr marL="0" indent="0">
              <a:buNone/>
              <a:defRPr sz="3900"/>
            </a:lvl1pPr>
            <a:lvl2pPr marL="574724" indent="0">
              <a:buNone/>
              <a:defRPr sz="3500"/>
            </a:lvl2pPr>
            <a:lvl3pPr marL="1149448" indent="0">
              <a:buNone/>
              <a:defRPr sz="3000"/>
            </a:lvl3pPr>
            <a:lvl4pPr marL="1724172" indent="0">
              <a:buNone/>
              <a:defRPr sz="2500"/>
            </a:lvl4pPr>
            <a:lvl5pPr marL="2298895" indent="0">
              <a:buNone/>
              <a:defRPr sz="2500"/>
            </a:lvl5pPr>
            <a:lvl6pPr marL="2873621" indent="0">
              <a:buNone/>
              <a:defRPr sz="2500"/>
            </a:lvl6pPr>
            <a:lvl7pPr marL="3448344" indent="0">
              <a:buNone/>
              <a:defRPr sz="2500"/>
            </a:lvl7pPr>
            <a:lvl8pPr marL="4023069" indent="0">
              <a:buNone/>
              <a:defRPr sz="2500"/>
            </a:lvl8pPr>
            <a:lvl9pPr marL="4597793" indent="0">
              <a:buNone/>
              <a:defRPr sz="2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09203" y="5725161"/>
            <a:ext cx="7680960" cy="858519"/>
          </a:xfrm>
        </p:spPr>
        <p:txBody>
          <a:bodyPr/>
          <a:lstStyle>
            <a:lvl1pPr marL="0" indent="0">
              <a:buNone/>
              <a:defRPr sz="1800"/>
            </a:lvl1pPr>
            <a:lvl2pPr marL="574724" indent="0">
              <a:buNone/>
              <a:defRPr sz="1500"/>
            </a:lvl2pPr>
            <a:lvl3pPr marL="1149448" indent="0">
              <a:buNone/>
              <a:defRPr sz="1300"/>
            </a:lvl3pPr>
            <a:lvl4pPr marL="1724172" indent="0">
              <a:buNone/>
              <a:defRPr sz="1100"/>
            </a:lvl4pPr>
            <a:lvl5pPr marL="2298895" indent="0">
              <a:buNone/>
              <a:defRPr sz="1100"/>
            </a:lvl5pPr>
            <a:lvl6pPr marL="2873621" indent="0">
              <a:buNone/>
              <a:defRPr sz="1100"/>
            </a:lvl6pPr>
            <a:lvl7pPr marL="3448344" indent="0">
              <a:buNone/>
              <a:defRPr sz="1100"/>
            </a:lvl7pPr>
            <a:lvl8pPr marL="4023069" indent="0">
              <a:buNone/>
              <a:defRPr sz="1100"/>
            </a:lvl8pPr>
            <a:lvl9pPr marL="4597793" indent="0">
              <a:buNone/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752997-1B9E-4EF2-B260-9EB38D81F553}" type="datetime1">
              <a:rPr lang="en-US" smtClean="0"/>
              <a:t>8/9/2026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16001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1370E5-7D69-44CE-AE73-71BFC3B68EE4}" type="datetime1">
              <a:rPr lang="en-US" smtClean="0"/>
              <a:t>8/9/2026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32098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81160" y="292948"/>
            <a:ext cx="2880360" cy="624162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40080" y="292948"/>
            <a:ext cx="8427720" cy="624162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FF8B80-F83C-48AA-AA3F-63D37C1606D6}" type="datetime1">
              <a:rPr lang="en-US" smtClean="0"/>
              <a:t>8/9/2026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11354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0080" y="292946"/>
            <a:ext cx="11521440" cy="1219200"/>
          </a:xfrm>
          <a:prstGeom prst="rect">
            <a:avLst/>
          </a:prstGeom>
        </p:spPr>
        <p:txBody>
          <a:bodyPr vert="horz" lIns="114945" tIns="57473" rIns="114945" bIns="57473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0080" y="1706880"/>
            <a:ext cx="11521440" cy="4827694"/>
          </a:xfrm>
          <a:prstGeom prst="rect">
            <a:avLst/>
          </a:prstGeom>
        </p:spPr>
        <p:txBody>
          <a:bodyPr vert="horz" lIns="114945" tIns="57473" rIns="114945" bIns="57473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40080" y="6780107"/>
            <a:ext cx="2987040" cy="389467"/>
          </a:xfrm>
          <a:prstGeom prst="rect">
            <a:avLst/>
          </a:prstGeom>
        </p:spPr>
        <p:txBody>
          <a:bodyPr vert="horz" lIns="114945" tIns="57473" rIns="114945" bIns="57473" rtlCol="0" anchor="ctr"/>
          <a:lstStyle>
            <a:lvl1pPr algn="l">
              <a:defRPr sz="15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5C8E2D-1657-4F9E-9BA7-8881C66FCBC2}" type="datetime1">
              <a:rPr lang="en-US" smtClean="0"/>
              <a:t>8/9/2026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373880" y="6780107"/>
            <a:ext cx="4053840" cy="389467"/>
          </a:xfrm>
          <a:prstGeom prst="rect">
            <a:avLst/>
          </a:prstGeom>
        </p:spPr>
        <p:txBody>
          <a:bodyPr vert="horz" lIns="114945" tIns="57473" rIns="114945" bIns="57473" rtlCol="0" anchor="ctr"/>
          <a:lstStyle>
            <a:lvl1pPr algn="ctr">
              <a:defRPr sz="15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174480" y="6780107"/>
            <a:ext cx="2987040" cy="389467"/>
          </a:xfrm>
          <a:prstGeom prst="rect">
            <a:avLst/>
          </a:prstGeom>
        </p:spPr>
        <p:txBody>
          <a:bodyPr vert="horz" lIns="114945" tIns="57473" rIns="114945" bIns="57473" rtlCol="0" anchor="ctr"/>
          <a:lstStyle>
            <a:lvl1pPr algn="r">
              <a:defRPr sz="15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2A2637-A5A3-49FA-B214-6E67543099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10387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1149448" rtl="0" eaLnBrk="1" latinLnBrk="0" hangingPunct="1">
        <a:spcBef>
          <a:spcPct val="0"/>
        </a:spcBef>
        <a:buNone/>
        <a:defRPr sz="55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31044" indent="-431044" algn="l" defTabSz="1149448" rtl="0" eaLnBrk="1" latinLnBrk="0" hangingPunct="1">
        <a:spcBef>
          <a:spcPct val="20000"/>
        </a:spcBef>
        <a:buFont typeface="Arial" pitchFamily="34" charset="0"/>
        <a:buChar char="•"/>
        <a:defRPr sz="3900" kern="1200">
          <a:solidFill>
            <a:schemeClr val="tx1"/>
          </a:solidFill>
          <a:latin typeface="+mn-lt"/>
          <a:ea typeface="+mn-ea"/>
          <a:cs typeface="+mn-cs"/>
        </a:defRPr>
      </a:lvl1pPr>
      <a:lvl2pPr marL="933926" indent="-359202" algn="l" defTabSz="1149448" rtl="0" eaLnBrk="1" latinLnBrk="0" hangingPunct="1">
        <a:spcBef>
          <a:spcPct val="20000"/>
        </a:spcBef>
        <a:buFont typeface="Arial" pitchFamily="34" charset="0"/>
        <a:buChar char="–"/>
        <a:defRPr sz="3500" kern="1200">
          <a:solidFill>
            <a:schemeClr val="tx1"/>
          </a:solidFill>
          <a:latin typeface="+mn-lt"/>
          <a:ea typeface="+mn-ea"/>
          <a:cs typeface="+mn-cs"/>
        </a:defRPr>
      </a:lvl2pPr>
      <a:lvl3pPr marL="1436810" indent="-287362" algn="l" defTabSz="1149448" rtl="0" eaLnBrk="1" latinLnBrk="0" hangingPunct="1">
        <a:spcBef>
          <a:spcPct val="20000"/>
        </a:spcBef>
        <a:buFont typeface="Arial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3pPr>
      <a:lvl4pPr marL="2011534" indent="-287362" algn="l" defTabSz="1149448" rtl="0" eaLnBrk="1" latinLnBrk="0" hangingPunct="1">
        <a:spcBef>
          <a:spcPct val="20000"/>
        </a:spcBef>
        <a:buFont typeface="Arial" pitchFamily="34" charset="0"/>
        <a:buChar char="–"/>
        <a:defRPr sz="2500" kern="1200">
          <a:solidFill>
            <a:schemeClr val="tx1"/>
          </a:solidFill>
          <a:latin typeface="+mn-lt"/>
          <a:ea typeface="+mn-ea"/>
          <a:cs typeface="+mn-cs"/>
        </a:defRPr>
      </a:lvl4pPr>
      <a:lvl5pPr marL="2586258" indent="-287362" algn="l" defTabSz="1149448" rtl="0" eaLnBrk="1" latinLnBrk="0" hangingPunct="1">
        <a:spcBef>
          <a:spcPct val="20000"/>
        </a:spcBef>
        <a:buFont typeface="Arial" pitchFamily="34" charset="0"/>
        <a:buChar char="»"/>
        <a:defRPr sz="2500" kern="1200">
          <a:solidFill>
            <a:schemeClr val="tx1"/>
          </a:solidFill>
          <a:latin typeface="+mn-lt"/>
          <a:ea typeface="+mn-ea"/>
          <a:cs typeface="+mn-cs"/>
        </a:defRPr>
      </a:lvl5pPr>
      <a:lvl6pPr marL="3160983" indent="-287362" algn="l" defTabSz="1149448" rtl="0" eaLnBrk="1" latinLnBrk="0" hangingPunct="1">
        <a:spcBef>
          <a:spcPct val="20000"/>
        </a:spcBef>
        <a:buFont typeface="Arial" pitchFamily="34" charset="0"/>
        <a:buChar char="•"/>
        <a:defRPr sz="2500" kern="1200">
          <a:solidFill>
            <a:schemeClr val="tx1"/>
          </a:solidFill>
          <a:latin typeface="+mn-lt"/>
          <a:ea typeface="+mn-ea"/>
          <a:cs typeface="+mn-cs"/>
        </a:defRPr>
      </a:lvl6pPr>
      <a:lvl7pPr marL="3735707" indent="-287362" algn="l" defTabSz="1149448" rtl="0" eaLnBrk="1" latinLnBrk="0" hangingPunct="1">
        <a:spcBef>
          <a:spcPct val="20000"/>
        </a:spcBef>
        <a:buFont typeface="Arial" pitchFamily="34" charset="0"/>
        <a:buChar char="•"/>
        <a:defRPr sz="2500" kern="1200">
          <a:solidFill>
            <a:schemeClr val="tx1"/>
          </a:solidFill>
          <a:latin typeface="+mn-lt"/>
          <a:ea typeface="+mn-ea"/>
          <a:cs typeface="+mn-cs"/>
        </a:defRPr>
      </a:lvl7pPr>
      <a:lvl8pPr marL="4310430" indent="-287362" algn="l" defTabSz="1149448" rtl="0" eaLnBrk="1" latinLnBrk="0" hangingPunct="1">
        <a:spcBef>
          <a:spcPct val="20000"/>
        </a:spcBef>
        <a:buFont typeface="Arial" pitchFamily="34" charset="0"/>
        <a:buChar char="•"/>
        <a:defRPr sz="2500" kern="1200">
          <a:solidFill>
            <a:schemeClr val="tx1"/>
          </a:solidFill>
          <a:latin typeface="+mn-lt"/>
          <a:ea typeface="+mn-ea"/>
          <a:cs typeface="+mn-cs"/>
        </a:defRPr>
      </a:lvl8pPr>
      <a:lvl9pPr marL="4885155" indent="-287362" algn="l" defTabSz="1149448" rtl="0" eaLnBrk="1" latinLnBrk="0" hangingPunct="1">
        <a:spcBef>
          <a:spcPct val="20000"/>
        </a:spcBef>
        <a:buFont typeface="Arial" pitchFamily="34" charset="0"/>
        <a:buChar char="•"/>
        <a:defRPr sz="2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49448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1pPr>
      <a:lvl2pPr marL="574724" algn="l" defTabSz="1149448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1149448" algn="l" defTabSz="1149448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724172" algn="l" defTabSz="1149448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4pPr>
      <a:lvl5pPr marL="2298895" algn="l" defTabSz="1149448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5pPr>
      <a:lvl6pPr marL="2873621" algn="l" defTabSz="1149448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6pPr>
      <a:lvl7pPr marL="3448344" algn="l" defTabSz="1149448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7pPr>
      <a:lvl8pPr marL="4023069" algn="l" defTabSz="1149448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8pPr>
      <a:lvl9pPr marL="4597793" algn="l" defTabSz="1149448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016/j.jalz.2019.02.007" TargetMode="External"/><Relationship Id="rId2" Type="http://schemas.openxmlformats.org/officeDocument/2006/relationships/hyperlink" Target="https://doi.org/10.1038/s41598-018-37769-z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038/s41598-020-74399-w" TargetMode="External"/><Relationship Id="rId2" Type="http://schemas.openxmlformats.org/officeDocument/2006/relationships/hyperlink" Target="https://doi.org/10.1016/j.jneumeth.2020.108701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002/alz.090685" TargetMode="External"/><Relationship Id="rId2" Type="http://schemas.openxmlformats.org/officeDocument/2006/relationships/hyperlink" Target="https://doi.org/10.1016/j.jalz.2018.06.2231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12801600" cy="1893147"/>
          </a:xfrm>
          <a:solidFill>
            <a:schemeClr val="tx2">
              <a:lumMod val="60000"/>
              <a:lumOff val="40000"/>
            </a:schemeClr>
          </a:solidFill>
        </p:spPr>
        <p:txBody>
          <a:bodyPr>
            <a:noAutofit/>
          </a:bodyPr>
          <a:lstStyle/>
          <a:p>
            <a:r>
              <a:rPr lang="en-US" sz="39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CEREBRO-X : An </a:t>
            </a:r>
            <a:r>
              <a:rPr lang="en-US" sz="39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AI-Powered Digital Brain Twin Framework for Alzheimer's Disease Progression Prediction</a:t>
            </a:r>
            <a:endParaRPr lang="en-US" sz="3900" b="1" dirty="0">
              <a:solidFill>
                <a:schemeClr val="bg1"/>
              </a:solidFill>
              <a:latin typeface="Times New Roman" panose="02020603050405020304" pitchFamily="18" charset="0"/>
              <a:cs typeface="Times New Roman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26920" y="3088640"/>
            <a:ext cx="8961120" cy="4047884"/>
          </a:xfrm>
        </p:spPr>
        <p:txBody>
          <a:bodyPr>
            <a:noAutofit/>
          </a:bodyPr>
          <a:lstStyle/>
          <a:p>
            <a:r>
              <a:rPr lang="en-US" sz="24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sz="2400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. Tech </a:t>
            </a:r>
            <a:r>
              <a:rPr lang="en-US" sz="24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Dissertation – I </a:t>
            </a:r>
            <a:r>
              <a:rPr lang="en-US" sz="2400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2400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2400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Presented </a:t>
            </a:r>
            <a:r>
              <a:rPr lang="en-US" sz="24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by</a:t>
            </a:r>
          </a:p>
          <a:p>
            <a:r>
              <a:rPr lang="en-US" sz="2400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ARYAN SHARMA </a:t>
            </a:r>
            <a:r>
              <a:rPr lang="en-US" sz="24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400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25MCS1018)</a:t>
            </a:r>
            <a:endParaRPr lang="en-US" sz="2400" dirty="0">
              <a:solidFill>
                <a:schemeClr val="accent1">
                  <a:lumMod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M.Tech Computer Science and </a:t>
            </a:r>
            <a:r>
              <a:rPr lang="en-US" sz="2400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Engineering</a:t>
            </a:r>
            <a:endParaRPr lang="en-US" sz="2400" dirty="0">
              <a:solidFill>
                <a:schemeClr val="accent1">
                  <a:lumMod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Under the Guidance of</a:t>
            </a:r>
          </a:p>
          <a:p>
            <a:r>
              <a:rPr lang="en-US" sz="2400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Dr. </a:t>
            </a:r>
            <a:r>
              <a:rPr lang="en-US" sz="2400" dirty="0" err="1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Sridevi</a:t>
            </a:r>
            <a:r>
              <a:rPr lang="en-US" sz="2400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S.</a:t>
            </a:r>
            <a:br>
              <a:rPr lang="en-US" sz="2400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2400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Associate Professor</a:t>
            </a:r>
            <a:endParaRPr lang="en-US" sz="2400" dirty="0">
              <a:solidFill>
                <a:schemeClr val="accent1">
                  <a:lumMod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School of Computer Science and Engineering</a:t>
            </a:r>
          </a:p>
          <a:p>
            <a:r>
              <a:rPr lang="en-US" sz="24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Vellore Institute of Technology, Chennai</a:t>
            </a:r>
            <a:r>
              <a:rPr lang="en-US" sz="2400" dirty="0"/>
              <a:t>.</a:t>
            </a:r>
          </a:p>
          <a:p>
            <a:endParaRPr lang="en-US" sz="2800" dirty="0"/>
          </a:p>
        </p:txBody>
      </p:sp>
      <p:pic>
        <p:nvPicPr>
          <p:cNvPr id="4" name="image2.png">
            <a:extLst>
              <a:ext uri="{FF2B5EF4-FFF2-40B4-BE49-F238E27FC236}">
                <a16:creationId xmlns:a16="http://schemas.microsoft.com/office/drawing/2014/main" id="{22B46767-127D-ED42-E12D-499907980F7E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4359910" y="1981200"/>
            <a:ext cx="4081780" cy="1165225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4998431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2</a:t>
            </a:fld>
            <a:endParaRPr lang="en-US" dirty="0"/>
          </a:p>
        </p:txBody>
      </p:sp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solidFill>
            <a:schemeClr val="tx2">
              <a:lumMod val="60000"/>
              <a:lumOff val="40000"/>
            </a:schemeClr>
          </a:solidFill>
        </p:spPr>
        <p:txBody>
          <a:bodyPr/>
          <a:lstStyle/>
          <a:p>
            <a:r>
              <a:rPr lang="en-US" sz="37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CONTENTS</a:t>
            </a: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640080" y="1706880"/>
            <a:ext cx="11521440" cy="4827694"/>
          </a:xfrm>
          <a:prstGeom prst="rect">
            <a:avLst/>
          </a:prstGeom>
        </p:spPr>
        <p:txBody>
          <a:bodyPr vert="horz" lIns="114945" tIns="57473" rIns="114945" bIns="57473" rtlCol="0">
            <a:normAutofit/>
          </a:bodyPr>
          <a:lstStyle>
            <a:lvl1pPr marL="431044" indent="-431044" algn="l" defTabSz="114944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33926" indent="-359202" algn="l" defTabSz="1149448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436810" indent="-287362" algn="l" defTabSz="114944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11534" indent="-287362" algn="l" defTabSz="1149448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586258" indent="-287362" algn="l" defTabSz="1149448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160983" indent="-287362" algn="l" defTabSz="114944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735707" indent="-287362" algn="l" defTabSz="114944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310430" indent="-287362" algn="l" defTabSz="114944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85155" indent="-287362" algn="l" defTabSz="114944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ctr">
              <a:buFont typeface="Wingdings" panose="05000000000000000000" pitchFamily="2" charset="2"/>
              <a:buChar char="v"/>
            </a:pP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ctr">
              <a:buFont typeface="Wingdings" panose="05000000000000000000" pitchFamily="2" charset="2"/>
              <a:buChar char="v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  <a:p>
            <a:pPr fontAlgn="ctr">
              <a:buFont typeface="Wingdings" panose="05000000000000000000" pitchFamily="2" charset="2"/>
              <a:buChar char="v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GAPS</a:t>
            </a:r>
          </a:p>
          <a:p>
            <a:pPr fontAlgn="ctr">
              <a:buFont typeface="Wingdings" panose="05000000000000000000" pitchFamily="2" charset="2"/>
              <a:buChar char="v"/>
            </a:pP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ctr">
              <a:buFont typeface="Wingdings" panose="05000000000000000000" pitchFamily="2" charset="2"/>
              <a:buChar char="v"/>
            </a:pP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SOLUTION TO THE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PROBLEM</a:t>
            </a:r>
          </a:p>
          <a:p>
            <a:pPr fontAlgn="ctr">
              <a:buFont typeface="Wingdings" panose="05000000000000000000" pitchFamily="2" charset="2"/>
              <a:buChar char="v"/>
            </a:pP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ctr">
              <a:buFont typeface="Wingdings" panose="05000000000000000000" pitchFamily="2" charset="2"/>
              <a:buChar char="v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TIMELINE / GANTT CHART</a:t>
            </a:r>
          </a:p>
          <a:p>
            <a:pPr fontAlgn="ctr">
              <a:buFont typeface="Wingdings" panose="05000000000000000000" pitchFamily="2" charset="2"/>
              <a:buChar char="v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</p:spTree>
    <p:extLst>
      <p:ext uri="{BB962C8B-B14F-4D97-AF65-F5344CB8AC3E}">
        <p14:creationId xmlns:p14="http://schemas.microsoft.com/office/powerpoint/2010/main" val="24901540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133920"/>
            <a:ext cx="11521440" cy="1219200"/>
          </a:xfrm>
          <a:solidFill>
            <a:schemeClr val="tx2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r>
              <a:rPr lang="en-US" sz="37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1. PROBLEM STATEMENT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3</a:t>
            </a:fld>
            <a:endParaRPr lang="en-US"/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640080" y="1568850"/>
            <a:ext cx="11521440" cy="60016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lvl="0" indent="-342900" algn="just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Alzheimer's disease is a progressive neurodegenerative disorder causing gradual cognitive </a:t>
            </a: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decline. Existing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systems mainly focus on static diagnosis/classification from individual MRI </a:t>
            </a: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scans.</a:t>
            </a:r>
          </a:p>
          <a:p>
            <a:pPr marL="342900" lvl="0" indent="-342900" algn="just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They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often fail to model patient-specific disease progression over time</a:t>
            </a: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MRI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clinical history and cognitive assessments are frequently analyzed separately</a:t>
            </a: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Many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deep-learning models provide predictions without sufficient interpretability</a:t>
            </a: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lvl="0" indent="-342900" algn="just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There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a need for an explainable, longitudinal and personalized AI framework for Alzheimer's progression monitoring</a:t>
            </a: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2400" dirty="0"/>
              <a:t> </a:t>
            </a:r>
            <a:endParaRPr lang="en-US" sz="2400" dirty="0" smtClean="0"/>
          </a:p>
          <a:p>
            <a:pPr marL="342900" lvl="0" indent="-342900" algn="just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Alzheimer's AI systems largely provide point-in-time predictions rather than a continuously evolving, explainable representation of an individual patient's disease progression.</a:t>
            </a:r>
            <a:endParaRPr lang="en-US" alt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kumimoji="0" lang="en-US" altLang="en-US" sz="24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59432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133397"/>
            <a:ext cx="11521440" cy="1219200"/>
          </a:xfrm>
          <a:solidFill>
            <a:schemeClr val="tx2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r>
              <a:rPr lang="en-US" sz="39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2. INTRODUCTION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4</a:t>
            </a:fld>
            <a:endParaRPr lang="en-US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731520" y="1819583"/>
            <a:ext cx="11521440" cy="449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Alzheimer’s disease (AD) is a progressive neurodegenerative disorder that causes memory loss, cognitive decline, and gradual loss of functional abilities</a:t>
            </a:r>
            <a:r>
              <a:rPr lang="en-US" alt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MRI 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clinical assessments provide valuable information about structural and cognitive changes associated with disease progression</a:t>
            </a:r>
            <a:r>
              <a:rPr lang="en-US" alt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AI-based approaches mainly focus on disease classification or detection at a single point in time</a:t>
            </a:r>
            <a:r>
              <a:rPr lang="en-US" alt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These 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approaches often have limited ability to represent individual patient trajectories, integrate multiple data types, and explain their </a:t>
            </a:r>
            <a:r>
              <a:rPr lang="en-US" alt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predictions.</a:t>
            </a:r>
          </a:p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Cerebro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proposes an AI-powered Digital Brain Twin that integrates longitudinal MRI, clinical, and cognitive information to create a patient-specific representation of disease progression</a:t>
            </a:r>
            <a:r>
              <a:rPr lang="en-US" alt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framework aims to predict future progression, provide explainable insights, and support clinical decision-making.</a:t>
            </a:r>
            <a:endParaRPr kumimoji="0" lang="en-US" altLang="en-US" sz="22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39748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2636" y="11339"/>
            <a:ext cx="11521440" cy="1219200"/>
          </a:xfrm>
          <a:solidFill>
            <a:schemeClr val="tx2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r>
              <a:rPr lang="en-US" sz="37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3.LITERATURE SURVEY</a:t>
            </a:r>
          </a:p>
        </p:txBody>
      </p:sp>
      <p:graphicFrame>
        <p:nvGraphicFramePr>
          <p:cNvPr id="5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49346707"/>
              </p:ext>
            </p:extLst>
          </p:nvPr>
        </p:nvGraphicFramePr>
        <p:xfrm>
          <a:off x="712636" y="1230539"/>
          <a:ext cx="11498580" cy="6250716"/>
        </p:xfrm>
        <a:graphic>
          <a:graphicData uri="http://schemas.openxmlformats.org/drawingml/2006/table">
            <a:tbl>
              <a:tblPr firstRow="1" firstCol="1" bandRow="1">
                <a:tableStyleId>{BC89EF96-8CEA-46FF-86C4-4CE0E7609802}</a:tableStyleId>
              </a:tblPr>
              <a:tblGrid>
                <a:gridCol w="7382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747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680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89420">
                  <a:extLst>
                    <a:ext uri="{9D8B030D-6E8A-4147-A177-3AD203B41FA5}">
                      <a16:colId xmlns:a16="http://schemas.microsoft.com/office/drawing/2014/main" val="1023101934"/>
                    </a:ext>
                  </a:extLst>
                </a:gridCol>
                <a:gridCol w="2028042">
                  <a:extLst>
                    <a:ext uri="{9D8B030D-6E8A-4147-A177-3AD203B41FA5}">
                      <a16:colId xmlns:a16="http://schemas.microsoft.com/office/drawing/2014/main" val="548304626"/>
                    </a:ext>
                  </a:extLst>
                </a:gridCol>
              </a:tblGrid>
              <a:tr h="23486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S.No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Article  Title 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Techniques Used</a:t>
                      </a: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Key Findings</a:t>
                      </a: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Limitations</a:t>
                      </a:r>
                    </a:p>
                  </a:txBody>
                  <a:tcPr marL="67838" marR="67838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7261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>
                    <a:solidFill>
                      <a:srgbClr val="C4E1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Predicting Alzheimer’s Disease Progression Using Multi-Modal Deep Learning Approach</a:t>
                      </a:r>
                      <a:r>
                        <a:rPr lang="en-US" sz="16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(Lee et al., 2019)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C4E1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t-IT" sz="16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Multimodal RNN; MRI + CSF + cognitive data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>
                    <a:solidFill>
                      <a:srgbClr val="C4E1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Longitudinal multimodal learning achieved </a:t>
                      </a:r>
                      <a:r>
                        <a:rPr lang="en-US" sz="1600" b="1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81% accuracy, AUC 0.86</a:t>
                      </a:r>
                      <a:r>
                        <a:rPr lang="en-US" sz="16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for MCI→AD prediction.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>
                    <a:solidFill>
                      <a:srgbClr val="C4E1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Requires multiple data modalities.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>
                    <a:solidFill>
                      <a:srgbClr val="C4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6683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 Deep Learning Model for Early Prediction of Alzheimer’s Disease Dementia Based on Hippocampal MRI</a:t>
                      </a:r>
                      <a:r>
                        <a:rPr lang="en-US" sz="16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(Li et al., 2019)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6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Deep learning + time-to-event analysis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Achieved </a:t>
                      </a:r>
                      <a:r>
                        <a:rPr lang="en-US" sz="1600" b="1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C-index 0.762</a:t>
                      </a:r>
                      <a:r>
                        <a:rPr lang="en-US" sz="16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on ADNI and </a:t>
                      </a:r>
                      <a:r>
                        <a:rPr lang="en-US" sz="1600" b="1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0.781</a:t>
                      </a:r>
                      <a:r>
                        <a:rPr lang="en-US" sz="16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on AIBL; combining clinical measures increased C-index to </a:t>
                      </a:r>
                      <a:r>
                        <a:rPr lang="en-US" sz="1600" b="1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0.864</a:t>
                      </a:r>
                      <a:r>
                        <a:rPr lang="en-US" sz="16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.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Focuses primarily on MCI→AD progression; </a:t>
                      </a:r>
                      <a:r>
                        <a:rPr lang="en-US" sz="1600" b="1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does not provide a continuously updated </a:t>
                      </a:r>
                      <a:r>
                        <a:rPr lang="en-US" sz="16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patient representation.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1541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>
                    <a:solidFill>
                      <a:srgbClr val="C4E1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Deep Residual Learning for Neuroimaging: An Application to Predict Progression to Alzheimer’s Disease</a:t>
                      </a:r>
                      <a:r>
                        <a:rPr lang="en-US" sz="16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(</a:t>
                      </a:r>
                      <a:r>
                        <a:rPr lang="en-US" sz="1600" b="0" i="0" u="none" strike="noStrike" kern="1200" dirty="0" err="1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Abrol</a:t>
                      </a:r>
                      <a:r>
                        <a:rPr lang="en-US" sz="16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et al., 2020)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C4E1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600" b="0" i="0" u="none" strike="noStrike" kern="1200" dirty="0" err="1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ResNet</a:t>
                      </a:r>
                      <a:r>
                        <a:rPr lang="en-IN" sz="16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+ domain transfer learning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>
                    <a:solidFill>
                      <a:srgbClr val="C4E1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Achieved </a:t>
                      </a:r>
                      <a:r>
                        <a:rPr lang="en-US" sz="1600" b="1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83.01% test accuracy</a:t>
                      </a:r>
                      <a:r>
                        <a:rPr lang="en-US" sz="16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for progression-related MRI classification. 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>
                    <a:solidFill>
                      <a:srgbClr val="C4E1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Primarily MRI-based classification; </a:t>
                      </a:r>
                      <a:r>
                        <a:rPr lang="en-US" sz="1600" b="1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limited multimodal and longitudinal patient modeling.</a:t>
                      </a:r>
                      <a:endParaRPr lang="en-US" sz="1600" b="1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>
                    <a:solidFill>
                      <a:srgbClr val="C4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7091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4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600" b="1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Multimodal Deep Learning for Alzheimer’s Disease Prediction</a:t>
                      </a:r>
                      <a:r>
                        <a:rPr lang="en-IN" sz="16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(</a:t>
                      </a:r>
                      <a:r>
                        <a:rPr lang="en-IN" sz="1600" b="0" i="0" u="none" strike="noStrike" kern="1200" dirty="0" err="1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Basahel</a:t>
                      </a:r>
                      <a:r>
                        <a:rPr lang="en-IN" sz="16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et al., 2021)</a:t>
                      </a:r>
                      <a:endParaRPr lang="en-IN" sz="1600" b="0" dirty="0" smtClean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IN" sz="1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/>
                      </a:r>
                      <a:br>
                        <a:rPr lang="en-IN" sz="1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6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Multimodal deep learning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Demonstrated benefits of combining </a:t>
                      </a:r>
                      <a:r>
                        <a:rPr lang="en-US" sz="1600" b="1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MRI, clinical and genetic information</a:t>
                      </a:r>
                      <a:r>
                        <a:rPr lang="en-US" sz="16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for AD prediction.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2400"/>
                        </a:spcAft>
                      </a:pPr>
                      <a:r>
                        <a:rPr lang="en-US" sz="16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Focus remains prediction/classification rather than a continuously evolving Digital Brain Twin.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9224176" y="6780107"/>
            <a:ext cx="2987040" cy="389467"/>
          </a:xfrm>
        </p:spPr>
        <p:txBody>
          <a:bodyPr/>
          <a:lstStyle/>
          <a:p>
            <a:fld id="{C02A2637-A5A3-49FA-B214-6E67543099E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54781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tx2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r>
              <a:rPr lang="en-US" sz="37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LITERATURE SURVEY (CONTD..,)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6</a:t>
            </a:fld>
            <a:endParaRPr lang="en-US"/>
          </a:p>
        </p:txBody>
      </p:sp>
      <p:graphicFrame>
        <p:nvGraphicFramePr>
          <p:cNvPr id="9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40677115"/>
              </p:ext>
            </p:extLst>
          </p:nvPr>
        </p:nvGraphicFramePr>
        <p:xfrm>
          <a:off x="665920" y="1540685"/>
          <a:ext cx="11495599" cy="5523387"/>
        </p:xfrm>
        <a:graphic>
          <a:graphicData uri="http://schemas.openxmlformats.org/drawingml/2006/table">
            <a:tbl>
              <a:tblPr firstRow="1" firstCol="1" bandRow="1">
                <a:tableStyleId>{BC89EF96-8CEA-46FF-86C4-4CE0E7609802}</a:tableStyleId>
              </a:tblPr>
              <a:tblGrid>
                <a:gridCol w="708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72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448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69327">
                  <a:extLst>
                    <a:ext uri="{9D8B030D-6E8A-4147-A177-3AD203B41FA5}">
                      <a16:colId xmlns:a16="http://schemas.microsoft.com/office/drawing/2014/main" val="1023101934"/>
                    </a:ext>
                  </a:extLst>
                </a:gridCol>
                <a:gridCol w="2405518">
                  <a:extLst>
                    <a:ext uri="{9D8B030D-6E8A-4147-A177-3AD203B41FA5}">
                      <a16:colId xmlns:a16="http://schemas.microsoft.com/office/drawing/2014/main" val="548304626"/>
                    </a:ext>
                  </a:extLst>
                </a:gridCol>
              </a:tblGrid>
              <a:tr h="39665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err="1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S.No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Article  Title 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Techniques Used</a:t>
                      </a: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Key Findings</a:t>
                      </a: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Limitations</a:t>
                      </a:r>
                    </a:p>
                  </a:txBody>
                  <a:tcPr marL="67838" marR="67838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2166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5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>
                    <a:solidFill>
                      <a:srgbClr val="C4E1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Longitudinal MRI-Based Alzheimer’s Disease Progression </a:t>
                      </a:r>
                      <a:r>
                        <a:rPr lang="en-IN" sz="1600" b="1" i="0" u="none" strike="noStrike" kern="1200" dirty="0" err="1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Modeling</a:t>
                      </a:r>
                      <a:r>
                        <a:rPr lang="en-IN" sz="16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(2024)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C4E1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2400"/>
                        </a:spcAft>
                      </a:pPr>
                      <a:r>
                        <a:rPr lang="en-IN" sz="16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CNN + </a:t>
                      </a:r>
                      <a:r>
                        <a:rPr lang="en-IN" sz="1600" b="0" i="0" u="none" strike="noStrike" kern="1200" dirty="0" err="1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BiLSTM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>
                    <a:solidFill>
                      <a:srgbClr val="C4E1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Combines </a:t>
                      </a:r>
                      <a:r>
                        <a:rPr lang="en-US" sz="1600" b="1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spatial MRI features with temporal information</a:t>
                      </a:r>
                      <a:r>
                        <a:rPr lang="en-US" sz="16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to model longitudinal disease progression.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>
                    <a:solidFill>
                      <a:srgbClr val="C4E1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Temporal modeling is present, but patient-specific Digital Twin representation and integrated clinical decision support are limited.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>
                    <a:solidFill>
                      <a:srgbClr val="C4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4124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6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Smart ROI Detection for Alzheimer’s Disease Prediction Using Explainable AI</a:t>
                      </a:r>
                      <a:r>
                        <a:rPr lang="en-IN" sz="16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(</a:t>
                      </a:r>
                      <a:r>
                        <a:rPr lang="en-IN" sz="1600" b="0" i="0" u="none" strike="noStrike" kern="1200" dirty="0" err="1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Aghaei</a:t>
                      </a:r>
                      <a:r>
                        <a:rPr lang="en-IN" sz="16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et al., 2023)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3D CNN + Grad-CAM + automatic ROI extraction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On </a:t>
                      </a:r>
                      <a:r>
                        <a:rPr lang="en-US" sz="1600" b="1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176 MCI ADNI subjects</a:t>
                      </a:r>
                      <a:r>
                        <a:rPr lang="en-US" sz="16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, reported </a:t>
                      </a:r>
                      <a:r>
                        <a:rPr lang="en-US" sz="1600" b="1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98.6% accuracy and AUC 1.0</a:t>
                      </a:r>
                      <a:r>
                        <a:rPr lang="en-US" sz="16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using 5-fold CV.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Strong XAI component, but focused on ROI-based prediction rather than longitudinal Digital Twin modeling.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0627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7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>
                    <a:solidFill>
                      <a:srgbClr val="C4E1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An Integrated Predictive Model for Alzheimer’s Disease Progression from Cognitively Normal Subjects Using Generated MRI and Interpretable AI</a:t>
                      </a:r>
                      <a:r>
                        <a:rPr lang="en-IN" sz="16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(</a:t>
                      </a:r>
                      <a:r>
                        <a:rPr lang="en-IN" sz="1600" b="0" i="0" u="none" strike="noStrike" kern="1200" dirty="0" err="1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Aghaei</a:t>
                      </a:r>
                      <a:r>
                        <a:rPr lang="en-IN" sz="16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&amp; </a:t>
                      </a:r>
                      <a:r>
                        <a:rPr lang="en-IN" sz="1600" b="0" i="0" u="none" strike="noStrike" kern="1200" dirty="0" err="1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Moghaddam</a:t>
                      </a:r>
                      <a:r>
                        <a:rPr lang="en-IN" sz="16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, 2025)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C4E1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6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Ensemble transfer learning + </a:t>
                      </a:r>
                      <a:r>
                        <a:rPr lang="en-IN" sz="1600" b="0" i="0" u="none" strike="noStrike" kern="1200" dirty="0" err="1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ViT</a:t>
                      </a:r>
                      <a:r>
                        <a:rPr lang="en-IN" sz="16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-GAN + 3D CNN + Grad-CAM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>
                    <a:solidFill>
                      <a:srgbClr val="C4E1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Generated future MRI changes and predicted CN→AD progression; reported </a:t>
                      </a:r>
                      <a:r>
                        <a:rPr lang="en-US" sz="1600" b="1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0.85 accuracy and 0.86 F1-score</a:t>
                      </a:r>
                      <a:r>
                        <a:rPr lang="en-US" sz="16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. 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>
                    <a:solidFill>
                      <a:srgbClr val="C4E1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Synthetic MRI generation introduces additional assumptions; primarily focuses on progression prediction rather than a complete Digital Twin framework.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C4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516665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tx2">
              <a:lumMod val="60000"/>
              <a:lumOff val="40000"/>
            </a:schemeClr>
          </a:solidFill>
        </p:spPr>
        <p:txBody>
          <a:bodyPr vert="horz" lIns="114945" tIns="57473" rIns="114945" bIns="57473" rtlCol="0" anchor="ctr">
            <a:normAutofit/>
          </a:bodyPr>
          <a:lstStyle/>
          <a:p>
            <a:r>
              <a:rPr lang="en-US" sz="37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LITERATURE SURVEY (CONTD..,)</a:t>
            </a:r>
            <a:endParaRPr lang="en-GB" sz="3700" b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7</a:t>
            </a:fld>
            <a:endParaRPr lang="en-US"/>
          </a:p>
        </p:txBody>
      </p:sp>
      <p:graphicFrame>
        <p:nvGraphicFramePr>
          <p:cNvPr id="6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24259374"/>
              </p:ext>
            </p:extLst>
          </p:nvPr>
        </p:nvGraphicFramePr>
        <p:xfrm>
          <a:off x="640080" y="1729526"/>
          <a:ext cx="11521440" cy="4474875"/>
        </p:xfrm>
        <a:graphic>
          <a:graphicData uri="http://schemas.openxmlformats.org/drawingml/2006/table">
            <a:tbl>
              <a:tblPr firstRow="1" firstCol="1" bandRow="1">
                <a:tableStyleId>{BC89EF96-8CEA-46FF-86C4-4CE0E7609802}</a:tableStyleId>
              </a:tblPr>
              <a:tblGrid>
                <a:gridCol w="7102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730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514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75777">
                  <a:extLst>
                    <a:ext uri="{9D8B030D-6E8A-4147-A177-3AD203B41FA5}">
                      <a16:colId xmlns:a16="http://schemas.microsoft.com/office/drawing/2014/main" val="1023101934"/>
                    </a:ext>
                  </a:extLst>
                </a:gridCol>
                <a:gridCol w="2410925">
                  <a:extLst>
                    <a:ext uri="{9D8B030D-6E8A-4147-A177-3AD203B41FA5}">
                      <a16:colId xmlns:a16="http://schemas.microsoft.com/office/drawing/2014/main" val="548304626"/>
                    </a:ext>
                  </a:extLst>
                </a:gridCol>
              </a:tblGrid>
              <a:tr h="39665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S.No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Article  Title 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Techniques Used</a:t>
                      </a: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Key Findings</a:t>
                      </a: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Limitations</a:t>
                      </a:r>
                    </a:p>
                  </a:txBody>
                  <a:tcPr marL="67838" marR="67838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2166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8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>
                    <a:solidFill>
                      <a:srgbClr val="C4E1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Longitudinal MRI + </a:t>
                      </a:r>
                      <a:r>
                        <a:rPr lang="en-IN" sz="1600" b="1" i="0" u="none" strike="noStrike" kern="1200" dirty="0" err="1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Radiomics</a:t>
                      </a:r>
                      <a:r>
                        <a:rPr lang="en-IN" sz="1600" b="1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for Alzheimer’s Progression Prediction</a:t>
                      </a:r>
                      <a:r>
                        <a:rPr lang="en-IN" sz="16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(2025)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C4E1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2400"/>
                        </a:spcAft>
                      </a:pPr>
                      <a:r>
                        <a:rPr lang="en-IN" sz="1600" b="0" i="0" u="none" strike="noStrike" kern="1200" dirty="0" err="1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Radiomics</a:t>
                      </a:r>
                      <a:r>
                        <a:rPr lang="en-IN" sz="16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+ longitudinal </a:t>
                      </a:r>
                      <a:r>
                        <a:rPr lang="en-IN" sz="1600" b="0" i="0" u="none" strike="noStrike" kern="1200" dirty="0" err="1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modeling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>
                    <a:solidFill>
                      <a:srgbClr val="C4E1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Shows that longitudinal structural MRI features can support </a:t>
                      </a:r>
                      <a:r>
                        <a:rPr lang="en-US" sz="1600" b="1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MCI→AD progression prediction</a:t>
                      </a:r>
                      <a:r>
                        <a:rPr lang="en-US" sz="16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.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>
                    <a:solidFill>
                      <a:srgbClr val="C4E1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Hand-crafted/</a:t>
                      </a:r>
                      <a:r>
                        <a:rPr lang="en-US" sz="1600" b="0" i="0" u="none" strike="noStrike" kern="1200" dirty="0" err="1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radiomic</a:t>
                      </a:r>
                      <a:r>
                        <a:rPr lang="en-US" sz="16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features may not capture the full multimodal patient representation.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>
                    <a:solidFill>
                      <a:srgbClr val="C4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4124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9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MRI and Clinical Data for Prediction of 12-Month Cognitive Decline</a:t>
                      </a:r>
                      <a:r>
                        <a:rPr lang="en-US" sz="16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(2026)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Machine learning + MRI + clinical features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Demonstrates the value of combining routine clinical variables with MRI for predicting near-term cognitive decline.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Short prediction horizon; </a:t>
                      </a:r>
                      <a:r>
                        <a:rPr lang="en-US" sz="1600" b="1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does not maintain a longitudinal Digital Brain Twin.</a:t>
                      </a:r>
                      <a:endParaRPr lang="en-US" sz="1600" b="1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4124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smtClean="0"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10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>
                    <a:solidFill>
                      <a:srgbClr val="C4E1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600" b="1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Multimodal MRI + Clinical Explainable AI Framework</a:t>
                      </a:r>
                      <a:r>
                        <a:rPr lang="it-IT" sz="16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(2026)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C4E1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6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Transformer-based fusion + Grad-CAM + SHAP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>
                    <a:solidFill>
                      <a:srgbClr val="C4E1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Combines imaging and clinical information while providing both visual and feature-level explanations.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>
                    <a:solidFill>
                      <a:srgbClr val="C4E1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0" i="0" u="none" strike="noStrike" kern="1200" dirty="0" err="1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Explainability</a:t>
                      </a:r>
                      <a:r>
                        <a:rPr lang="en-US" sz="16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and multimodal fusion are addressed, </a:t>
                      </a:r>
                      <a:r>
                        <a:rPr lang="en-US" sz="1600" b="1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but continuous patient-specific Digital Twin modeling remains limited.</a:t>
                      </a:r>
                      <a:endParaRPr lang="en-IN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C4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452434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341799"/>
            <a:ext cx="11521440" cy="1219200"/>
          </a:xfrm>
          <a:solidFill>
            <a:schemeClr val="tx2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r>
              <a:rPr lang="en-US" sz="37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4. RESEARCH GAPS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8</a:t>
            </a:fld>
            <a:endParaRPr lang="en-US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640080" y="3623345"/>
            <a:ext cx="1152144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640080" y="1759226"/>
            <a:ext cx="11521440" cy="504753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Identified Research </a:t>
            </a:r>
            <a:r>
              <a:rPr lang="en-US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Gaps: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Static Prediction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systems focus on diagnosis at a single time point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Limited Patient Personalization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Population-level models do not fully represent an individual's disease trajectory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Fragmented Multimodal Analysis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MRI, clinical and cognitive information are often processed separately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Limited Longitudinal Modeling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 approaches do not maintain a continuously evolving patient representation.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Explainability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Gap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Predictions are often not sufficiently interpretable for clinical users.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Generalization Gap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 models are evaluated within the same dataset rather than using independent cohorts.</a:t>
            </a:r>
          </a:p>
        </p:txBody>
      </p:sp>
    </p:spTree>
    <p:extLst>
      <p:ext uri="{BB962C8B-B14F-4D97-AF65-F5344CB8AC3E}">
        <p14:creationId xmlns:p14="http://schemas.microsoft.com/office/powerpoint/2010/main" val="19444165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311981"/>
            <a:ext cx="11521440" cy="1219200"/>
          </a:xfrm>
          <a:solidFill>
            <a:schemeClr val="tx2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r>
              <a:rPr lang="en-US" sz="37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5</a:t>
            </a:r>
            <a:r>
              <a:rPr lang="en-US" sz="3700" b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sz="3700" b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OBJECTIVES</a:t>
            </a:r>
            <a:endParaRPr lang="en-US" sz="3700" b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9</a:t>
            </a:fld>
            <a:endParaRPr lang="en-US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640080" y="3623345"/>
            <a:ext cx="1152144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640080" y="1759226"/>
            <a:ext cx="11521440" cy="54014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Cerebro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 :</a:t>
            </a:r>
            <a:b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develop a multimodal AI system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analyzes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MRI, EEG, and clinical data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Alzheimer’s disease assessment.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detect and classify cognitive impairment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estimate the current stage of Alzheimer’s disease using machine learning/deep learning techniques.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predict disease progression longitudinally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by analyzing changes in patient data across multiple time points.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provide explainable and interpretable predictions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 XAI techniques such as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Grad-CAM and SHAP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helping clinicians understand the factors influencing the model’s decision</a:t>
            </a:r>
            <a:r>
              <a:rPr lang="en-US" dirty="0"/>
              <a:t>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4882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558ED5"/>
          </a:solidFill>
        </p:spPr>
        <p:txBody>
          <a:bodyPr/>
          <a:lstStyle/>
          <a:p>
            <a:r>
              <a:rPr lang="en-US" sz="37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6</a:t>
            </a:r>
            <a:r>
              <a:rPr lang="en-US" sz="3700" b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sz="3700" b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PROPOSED </a:t>
            </a:r>
            <a:r>
              <a:rPr lang="en-US" sz="37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SOLUTION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10</a:t>
            </a:fld>
            <a:endParaRPr lang="en-US"/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640080" y="1649376"/>
            <a:ext cx="11521440" cy="449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Cerebro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X proposes a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multimodal AI-based framework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combines MRI scans, EEG signals, and clinical information to assess Alzheimer’s disease. This allows the system to use complementary information from different patient data sources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will use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 and machine learning models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identify cognitive impairment and classify the patient’s condition. It will also analyze longitudinal patient data to identify patterns and estimate possible disease progression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improve transparency,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Cerebro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X will incorporate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Explainable AI techniques such as Grad-CAM and SHAP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show which features influenced the prediction. This makes the system more interpretable and potentially useful as a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clinical decision-support 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tool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/>
              <a:t>MRI + EEG + Clinical Data → Multimodal AI Model → Alzheimer’s Assessment → Progression Prediction → XAI Explanation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08257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558ED5"/>
          </a:solidFill>
        </p:spPr>
        <p:txBody>
          <a:bodyPr/>
          <a:lstStyle/>
          <a:p>
            <a:r>
              <a:rPr lang="en-US" sz="37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7</a:t>
            </a:r>
            <a:r>
              <a:rPr lang="en-US" sz="3700" b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sz="3700" b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ARCHITECTURE</a:t>
            </a:r>
            <a:r>
              <a:rPr lang="en-US" sz="3700" b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endParaRPr lang="en-US" sz="3700" b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11</a:t>
            </a:fld>
            <a:endParaRPr lang="en-US"/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640080" y="1428193"/>
            <a:ext cx="11521440" cy="62478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Cerebro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X: Proposed Solution 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Acquisition: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Longitudinal MRI, clinical &amp; cognitive data.</a:t>
            </a:r>
            <a:b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Preprocessing: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Normalize, clean, and align patient data.</a:t>
            </a:r>
            <a:b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Feature Extraction: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Extract imaging and clinical features using AI.</a:t>
            </a:r>
            <a:b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Multimodal Fusion: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Combine all patient information.</a:t>
            </a:r>
            <a:b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Digital Brain Twin: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Create a personalized, evolving patient model.</a:t>
            </a:r>
            <a:b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Progression Prediction: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Predict disease stage and future decline.</a:t>
            </a:r>
            <a:b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Explainable AI: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Use Grad-CAM &amp; SHAP for interpretable predictions.</a:t>
            </a:r>
            <a:b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External Validation: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Train on 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ADNI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validate on 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OASIS-3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Decision Support: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Visualize patient history, progression, and predictions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90885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12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7061" y="0"/>
            <a:ext cx="5127477" cy="73152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5070" y="0"/>
            <a:ext cx="10972800" cy="731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19954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1655" y="183617"/>
            <a:ext cx="11521440" cy="1219200"/>
          </a:xfrm>
          <a:solidFill>
            <a:srgbClr val="558ED5"/>
          </a:solidFill>
        </p:spPr>
        <p:txBody>
          <a:bodyPr/>
          <a:lstStyle/>
          <a:p>
            <a:r>
              <a:rPr lang="en-US" sz="37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itchFamily="18" charset="0"/>
              </a:rPr>
              <a:t>8</a:t>
            </a:r>
            <a:r>
              <a:rPr lang="en-US" sz="37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itchFamily="18" charset="0"/>
              </a:rPr>
              <a:t>. </a:t>
            </a:r>
            <a:r>
              <a:rPr lang="en-US" sz="37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itchFamily="18" charset="0"/>
              </a:rPr>
              <a:t>TIMELINE / GANTT CHART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9186055" y="6780107"/>
            <a:ext cx="2987040" cy="389467"/>
          </a:xfrm>
        </p:spPr>
        <p:txBody>
          <a:bodyPr/>
          <a:lstStyle/>
          <a:p>
            <a:fld id="{C02A2637-A5A3-49FA-B214-6E67543099EF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13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6927825"/>
              </p:ext>
            </p:extLst>
          </p:nvPr>
        </p:nvGraphicFramePr>
        <p:xfrm>
          <a:off x="651655" y="1595583"/>
          <a:ext cx="11521440" cy="5484540"/>
        </p:xfrm>
        <a:graphic>
          <a:graphicData uri="http://schemas.openxmlformats.org/drawingml/2006/table">
            <a:tbl>
              <a:tblPr/>
              <a:tblGrid>
                <a:gridCol w="2880360">
                  <a:extLst>
                    <a:ext uri="{9D8B030D-6E8A-4147-A177-3AD203B41FA5}">
                      <a16:colId xmlns:a16="http://schemas.microsoft.com/office/drawing/2014/main" val="3077051069"/>
                    </a:ext>
                  </a:extLst>
                </a:gridCol>
                <a:gridCol w="2880360">
                  <a:extLst>
                    <a:ext uri="{9D8B030D-6E8A-4147-A177-3AD203B41FA5}">
                      <a16:colId xmlns:a16="http://schemas.microsoft.com/office/drawing/2014/main" val="4012796718"/>
                    </a:ext>
                  </a:extLst>
                </a:gridCol>
                <a:gridCol w="2880360">
                  <a:extLst>
                    <a:ext uri="{9D8B030D-6E8A-4147-A177-3AD203B41FA5}">
                      <a16:colId xmlns:a16="http://schemas.microsoft.com/office/drawing/2014/main" val="144362697"/>
                    </a:ext>
                  </a:extLst>
                </a:gridCol>
                <a:gridCol w="2880360">
                  <a:extLst>
                    <a:ext uri="{9D8B030D-6E8A-4147-A177-3AD203B41FA5}">
                      <a16:colId xmlns:a16="http://schemas.microsoft.com/office/drawing/2014/main" val="3244811884"/>
                    </a:ext>
                  </a:extLst>
                </a:gridCol>
              </a:tblGrid>
              <a:tr h="524080"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S.No</a:t>
                      </a:r>
                      <a:r>
                        <a:rPr lang="en-IN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</a:p>
                  </a:txBody>
                  <a:tcPr marL="60471" marR="60471" marT="30235" marB="302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Months</a:t>
                      </a:r>
                    </a:p>
                  </a:txBody>
                  <a:tcPr marL="60471" marR="60471" marT="30235" marB="302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Task / Activity</a:t>
                      </a:r>
                    </a:p>
                  </a:txBody>
                  <a:tcPr marL="60471" marR="60471" marT="30235" marB="302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Milestone / Expected Outcome</a:t>
                      </a:r>
                    </a:p>
                  </a:txBody>
                  <a:tcPr marL="60471" marR="60471" marT="30235" marB="302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22636413"/>
                  </a:ext>
                </a:extLst>
              </a:tr>
              <a:tr h="524080">
                <a:tc>
                  <a:txBody>
                    <a:bodyPr/>
                    <a:lstStyle/>
                    <a:p>
                      <a:pPr algn="ctr"/>
                      <a:r>
                        <a:rPr lang="en-IN" sz="20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0471" marR="60471" marT="30235" marB="302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June–July</a:t>
                      </a:r>
                    </a:p>
                  </a:txBody>
                  <a:tcPr marL="60471" marR="60471" marT="30235" marB="302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Problem Definition &amp; Literature Review</a:t>
                      </a:r>
                    </a:p>
                  </a:txBody>
                  <a:tcPr marL="60471" marR="60471" marT="30235" marB="302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Research gap and objectives identified</a:t>
                      </a:r>
                    </a:p>
                  </a:txBody>
                  <a:tcPr marL="60471" marR="60471" marT="30235" marB="302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99466247"/>
                  </a:ext>
                </a:extLst>
              </a:tr>
              <a:tr h="755885">
                <a:tc>
                  <a:txBody>
                    <a:bodyPr/>
                    <a:lstStyle/>
                    <a:p>
                      <a:pPr algn="ctr"/>
                      <a:r>
                        <a:rPr lang="en-IN" sz="20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60471" marR="60471" marT="30235" marB="302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July–Aug</a:t>
                      </a:r>
                    </a:p>
                  </a:txBody>
                  <a:tcPr marL="60471" marR="60471" marT="30235" marB="302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ADNI Dataset Collection &amp; Preprocessing</a:t>
                      </a:r>
                    </a:p>
                  </a:txBody>
                  <a:tcPr marL="60471" marR="60471" marT="30235" marB="302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Clean longitudinal dataset prepared</a:t>
                      </a:r>
                    </a:p>
                  </a:txBody>
                  <a:tcPr marL="60471" marR="60471" marT="30235" marB="302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39742505"/>
                  </a:ext>
                </a:extLst>
              </a:tr>
              <a:tr h="524080">
                <a:tc>
                  <a:txBody>
                    <a:bodyPr/>
                    <a:lstStyle/>
                    <a:p>
                      <a:pPr algn="ctr"/>
                      <a:r>
                        <a:rPr lang="en-IN" sz="2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60471" marR="60471" marT="30235" marB="302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Aug–Sep</a:t>
                      </a:r>
                    </a:p>
                  </a:txBody>
                  <a:tcPr marL="60471" marR="60471" marT="30235" marB="302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AI Model &amp; Multimodal Fusion</a:t>
                      </a:r>
                    </a:p>
                  </a:txBody>
                  <a:tcPr marL="60471" marR="60471" marT="30235" marB="302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Baseline prediction model developed</a:t>
                      </a:r>
                    </a:p>
                  </a:txBody>
                  <a:tcPr marL="60471" marR="60471" marT="30235" marB="302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64688622"/>
                  </a:ext>
                </a:extLst>
              </a:tr>
              <a:tr h="755885">
                <a:tc>
                  <a:txBody>
                    <a:bodyPr/>
                    <a:lstStyle/>
                    <a:p>
                      <a:pPr algn="ctr"/>
                      <a:r>
                        <a:rPr lang="en-IN" sz="2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60471" marR="60471" marT="30235" marB="302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Sep</a:t>
                      </a:r>
                    </a:p>
                  </a:txBody>
                  <a:tcPr marL="60471" marR="60471" marT="30235" marB="302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Digital Brain Twin &amp; Progression Prediction</a:t>
                      </a:r>
                    </a:p>
                  </a:txBody>
                  <a:tcPr marL="60471" marR="60471" marT="30235" marB="302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Patient-specific longitudinal model developed</a:t>
                      </a:r>
                    </a:p>
                  </a:txBody>
                  <a:tcPr marL="60471" marR="60471" marT="30235" marB="302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2773995"/>
                  </a:ext>
                </a:extLst>
              </a:tr>
              <a:tr h="755885">
                <a:tc>
                  <a:txBody>
                    <a:bodyPr/>
                    <a:lstStyle/>
                    <a:p>
                      <a:pPr algn="ctr"/>
                      <a:r>
                        <a:rPr lang="en-IN" sz="2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60471" marR="60471" marT="30235" marB="302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Sep–Oct</a:t>
                      </a:r>
                    </a:p>
                  </a:txBody>
                  <a:tcPr marL="60471" marR="60471" marT="30235" marB="302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XAI + OASIS-3 External Validation</a:t>
                      </a:r>
                    </a:p>
                  </a:txBody>
                  <a:tcPr marL="60471" marR="60471" marT="30235" marB="302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Explainability</a:t>
                      </a:r>
                      <a:r>
                        <a:rPr lang="en-IN" sz="20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and generalization evaluated</a:t>
                      </a:r>
                    </a:p>
                  </a:txBody>
                  <a:tcPr marL="60471" marR="60471" marT="30235" marB="302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66689379"/>
                  </a:ext>
                </a:extLst>
              </a:tr>
              <a:tr h="987690">
                <a:tc>
                  <a:txBody>
                    <a:bodyPr/>
                    <a:lstStyle/>
                    <a:p>
                      <a:pPr algn="ctr"/>
                      <a:r>
                        <a:rPr lang="en-IN" sz="2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 marL="60471" marR="60471" marT="30235" marB="302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Oct</a:t>
                      </a:r>
                    </a:p>
                  </a:txBody>
                  <a:tcPr marL="60471" marR="60471" marT="30235" marB="302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Evaluation, Dashboard, Paper &amp; Thesis</a:t>
                      </a:r>
                    </a:p>
                  </a:txBody>
                  <a:tcPr marL="60471" marR="60471" marT="30235" marB="302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Final results, prototype and documentation completed</a:t>
                      </a:r>
                    </a:p>
                  </a:txBody>
                  <a:tcPr marL="60471" marR="60471" marT="30235" marB="302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251830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872962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558ED5"/>
          </a:solidFill>
        </p:spPr>
        <p:txBody>
          <a:bodyPr>
            <a:normAutofit/>
          </a:bodyPr>
          <a:lstStyle/>
          <a:p>
            <a:r>
              <a:rPr lang="en-US" sz="37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9</a:t>
            </a:r>
            <a:r>
              <a:rPr lang="en-US" sz="3700" b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sz="3700" b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REFERENCES</a:t>
            </a:r>
            <a:endParaRPr lang="en-US" sz="3700" b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14</a:t>
            </a:fld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640080" y="1724451"/>
            <a:ext cx="11521440" cy="504753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Lee, G., </a:t>
            </a:r>
            <a:r>
              <a:rPr lang="en-IN" b="1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Nho</a:t>
            </a:r>
            <a:r>
              <a:rPr lang="en-IN" b="1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K., Kang, B., </a:t>
            </a:r>
            <a:r>
              <a:rPr lang="en-IN" b="1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Sohn</a:t>
            </a:r>
            <a:r>
              <a:rPr lang="en-IN" b="1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K.-A., &amp; Kim, D. (2019). </a:t>
            </a:r>
            <a:r>
              <a:rPr lang="en-IN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Predicting Alzheimer’s disease progression using multi-modal deep learning approach. Scientific Reports, 9, 1952. </a:t>
            </a:r>
            <a:r>
              <a:rPr lang="en-IN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</a:t>
            </a:r>
            <a:r>
              <a:rPr lang="en-IN" dirty="0" smtClean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doi.org/10.1038/s41598-018-37769-z</a:t>
            </a:r>
            <a:r>
              <a:rPr lang="en-IN" dirty="0" smtClean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dirty="0" smtClean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 smtClean="0">
              <a:solidFill>
                <a:srgbClr val="22222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Li, H., </a:t>
            </a: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Habes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M., Fan, Y., et al. (2019).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deep learning model for early prediction of Alzheimer’s disease dementia based on hippocampal MRI.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Alzheimer’s &amp; Dementia, 15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(8), 1059–1070.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doi.org/10.1016/j.jalz.2019.02.007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Li, H., Fan, Y., &amp; Alzheimer’s Disease Neuroimaging Initiative. (2019).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Early prediction of Alzheimer’s disease dementia based on baseline hippocampal MRI and 1-year follow-up cognitive measures using deep recurrent neural networks.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Proceedings of IEEE International Symposium on Biomedical Imaging (ISBI)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368–371. https://doi.org/10.1109/ISBI.2019.8759397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8997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558ED5"/>
          </a:solidFill>
        </p:spPr>
        <p:txBody>
          <a:bodyPr>
            <a:normAutofit/>
          </a:bodyPr>
          <a:lstStyle/>
          <a:p>
            <a:r>
              <a:rPr lang="en-US" sz="37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REFERENCES (CONTD</a:t>
            </a:r>
            <a:r>
              <a:rPr lang="en-US" sz="3700" b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..)</a:t>
            </a:r>
            <a:endParaRPr lang="en-US" sz="3700" b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15</a:t>
            </a:fld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640080" y="1628503"/>
            <a:ext cx="11521440" cy="54014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Abrol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A.,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Bhattarai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M.,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Fedorov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A., et al. (2020).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Deep residual learning for neuroimaging: An application to predict progression to Alzheimer’s disease.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Journal of Neuroscience Methods, 339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108701.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doi.org/10.1016/j.jneumeth.2020.108701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Venugopalan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J., Tong, L., </a:t>
            </a: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Hassanzadeh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H. R., &amp; Wang, M. D. (2021).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Multimodal deep learning models for early detection of Alzheimer’s disease stage.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Scientific Reports, 11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3254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://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doi.org/10.1038/s41598-020-74399-w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Aghaei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A., &amp; </a:t>
            </a: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Ebrahimi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Moghaddam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M. (2023).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Smart ROI detection for Alzheimer’s disease prediction using explainable AI.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[Preprint]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Geng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Y., &amp; Zhang, H. (2026).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Machine-learning prediction and risk stratification of 12-month cognitive decline in Alzheimer’s disease using routine clinical and MRI data.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Scientific Reports, 16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12227. https://doi.org/10.1038/s41598-026-43321-1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6770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558ED5"/>
          </a:solidFill>
        </p:spPr>
        <p:txBody>
          <a:bodyPr>
            <a:normAutofit/>
          </a:bodyPr>
          <a:lstStyle/>
          <a:p>
            <a:r>
              <a:rPr lang="en-US" sz="37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REFERENCES (CONTD</a:t>
            </a:r>
            <a:r>
              <a:rPr lang="en-US" sz="3700" b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..)</a:t>
            </a:r>
            <a:endParaRPr lang="en-US" sz="3700" b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16</a:t>
            </a:fld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640080" y="1812175"/>
            <a:ext cx="11521440" cy="54014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LaMontagne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P. J., et al. (2018).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OASIS-3: Longitudinal neuroimaging, clinical, and cognitive dataset for normal aging and Alzheimer’s disease.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Alzheimer’s &amp; Dementia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doi.org/10.1016/j.jalz.2018.06.2231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Wang, D., Florian, H., Lynch, S. Y., et al. (2025).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Assessment of AI-generated digital twin methodology on reduction of treatment effect variance and potential clinical trial sample size saving using a Phase 2 trial dataset from patients with Alzheimer’s disease.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Alzheimer’s &amp; Dementia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doi.org/10.1002/alz.090685</a:t>
            </a:r>
            <a:endParaRPr lang="en-I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Huang, Y., Zhang, Y., </a:t>
            </a: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Michopoulou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S., </a:t>
            </a: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Kipps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C., &amp; Attar, R. (2026).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Transition-based digital twin modelling for Alzheimer’s disease under sparse longitudinal data. </a:t>
            </a:r>
            <a:r>
              <a:rPr lang="en-IN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arXiv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preprint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 smtClean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dirty="0" smtClean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 smtClean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dirty="0" smtClean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83859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2819401"/>
            <a:ext cx="11521440" cy="1219200"/>
          </a:xfrm>
        </p:spPr>
        <p:txBody>
          <a:bodyPr>
            <a:normAutofit fontScale="90000"/>
          </a:bodyPr>
          <a:lstStyle/>
          <a:p>
            <a:r>
              <a:rPr lang="en-US" sz="100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Thank You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03980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6461</TotalTime>
  <Words>1874</Words>
  <Application>Microsoft Office PowerPoint</Application>
  <PresentationFormat>Custom</PresentationFormat>
  <Paragraphs>201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Times New Roman</vt:lpstr>
      <vt:lpstr>Wingdings</vt:lpstr>
      <vt:lpstr>Office Theme</vt:lpstr>
      <vt:lpstr>CEREBRO-X : An AI-Powered Digital Brain Twin Framework for Alzheimer's Disease Progression Prediction</vt:lpstr>
      <vt:lpstr>CONTENTS</vt:lpstr>
      <vt:lpstr>1. PROBLEM STATEMENT</vt:lpstr>
      <vt:lpstr>2. INTRODUCTION</vt:lpstr>
      <vt:lpstr>3.LITERATURE SURVEY</vt:lpstr>
      <vt:lpstr>LITERATURE SURVEY (CONTD..,)</vt:lpstr>
      <vt:lpstr>LITERATURE SURVEY (CONTD..,)</vt:lpstr>
      <vt:lpstr>4. RESEARCH GAPS</vt:lpstr>
      <vt:lpstr>5. OBJECTIVES</vt:lpstr>
      <vt:lpstr>6. PROPOSED SOLUTION </vt:lpstr>
      <vt:lpstr>7. ARCHITECTURE </vt:lpstr>
      <vt:lpstr>PowerPoint Presentation</vt:lpstr>
      <vt:lpstr>8. TIMELINE / GANTT CHART</vt:lpstr>
      <vt:lpstr>9. REFERENCES</vt:lpstr>
      <vt:lpstr>REFERENCES (CONTD..)</vt:lpstr>
      <vt:lpstr>REFERENCES (CONTD..)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End-to-End Brain Tumor Detection from MRI Images Using Deep Learning and Flask</dc:title>
  <dc:creator>HP</dc:creator>
  <cp:lastModifiedBy>HP</cp:lastModifiedBy>
  <cp:revision>56</cp:revision>
  <dcterms:modified xsi:type="dcterms:W3CDTF">2026-08-12T07:18:29Z</dcterms:modified>
</cp:coreProperties>
</file>