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6" r:id="rId10"/>
    <p:sldId id="264" r:id="rId11"/>
    <p:sldId id="277" r:id="rId12"/>
    <p:sldId id="275" r:id="rId13"/>
    <p:sldId id="278" r:id="rId14"/>
    <p:sldId id="281" r:id="rId15"/>
    <p:sldId id="280" r:id="rId16"/>
    <p:sldId id="279" r:id="rId17"/>
    <p:sldId id="282" r:id="rId18"/>
    <p:sldId id="265" r:id="rId19"/>
    <p:sldId id="267" r:id="rId20"/>
    <p:sldId id="272" r:id="rId21"/>
    <p:sldId id="274" r:id="rId22"/>
    <p:sldId id="271" r:id="rId23"/>
  </p:sldIdLst>
  <p:sldSz cx="12801600" cy="7315200"/>
  <p:notesSz cx="6858000" cy="9144000"/>
  <p:defaultTextStyle>
    <a:defPPr lvl="0">
      <a:defRPr lang="en-US"/>
    </a:defPPr>
    <a:lvl1pPr marL="0" lv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lvl="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lvl="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lvl="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lvl="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lvl="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lvl="6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lvl="7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lvl="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55" autoAdjust="0"/>
    <p:restoredTop sz="94660"/>
  </p:normalViewPr>
  <p:slideViewPr>
    <p:cSldViewPr snapToGrid="0">
      <p:cViewPr varScale="1">
        <p:scale>
          <a:sx n="77" d="100"/>
          <a:sy n="77" d="100"/>
        </p:scale>
        <p:origin x="922" y="62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E4103-D868-498D-BB7B-ABDA25F974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486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lz.2019.02.007" TargetMode="External"/><Relationship Id="rId2" Type="http://schemas.openxmlformats.org/officeDocument/2006/relationships/hyperlink" Target="https://doi.org/10.1038/s41598-018-37769-z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0-74399-w" TargetMode="External"/><Relationship Id="rId2" Type="http://schemas.openxmlformats.org/officeDocument/2006/relationships/hyperlink" Target="https://doi.org/10.1016/j.jneumeth.2020.108701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02/alz.090685" TargetMode="External"/><Relationship Id="rId2" Type="http://schemas.openxmlformats.org/officeDocument/2006/relationships/hyperlink" Target="https://doi.org/10.1016/j.jalz.2018.06.2231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893147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Autofit/>
          </a:bodyPr>
          <a:lstStyle/>
          <a:p>
            <a:r>
              <a:rPr lang="en-US" sz="39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CEREBRO-X : An </a:t>
            </a:r>
            <a:r>
              <a:rPr lang="en-US" sz="39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AI-Powered Digital Brain Twin Framework for Alzheimer's Disease Progression Prediction</a:t>
            </a:r>
            <a:endParaRPr lang="en-US" sz="3900" b="1" dirty="0">
              <a:solidFill>
                <a:schemeClr val="bg1"/>
              </a:solidFill>
              <a:latin typeface="Times New Roman" panose="02020603050405020304" pitchFamily="18" charset="0"/>
              <a:cs typeface="Times New Roman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6920" y="3088640"/>
            <a:ext cx="8961120" cy="4047884"/>
          </a:xfrm>
        </p:spPr>
        <p:txBody>
          <a:bodyPr>
            <a:noAutofit/>
          </a:bodyPr>
          <a:lstStyle/>
          <a:p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. Tech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Dissertation – I </a:t>
            </a:r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Presented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by</a:t>
            </a:r>
          </a:p>
          <a:p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ARYAN SHARMA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25MCS1018)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M.Tech Computer Science and </a:t>
            </a:r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Engineering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Under the Guidance of</a:t>
            </a:r>
          </a:p>
          <a:p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Dr. </a:t>
            </a:r>
            <a:r>
              <a:rPr lang="en-US" sz="2400" dirty="0" err="1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Sridevi</a:t>
            </a:r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 S.</a:t>
            </a:r>
            <a:b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Associate Professor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School of Computer Science and Engineering</a:t>
            </a:r>
          </a:p>
          <a:p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Vellore Institute of Technology, Chennai</a:t>
            </a:r>
            <a:r>
              <a:rPr lang="en-US" sz="2400" dirty="0"/>
              <a:t>.</a:t>
            </a:r>
          </a:p>
          <a:p>
            <a:endParaRPr lang="en-US" sz="2800" dirty="0"/>
          </a:p>
        </p:txBody>
      </p:sp>
      <p:pic>
        <p:nvPicPr>
          <p:cNvPr id="4" name="image2.png">
            <a:extLst>
              <a:ext uri="{FF2B5EF4-FFF2-40B4-BE49-F238E27FC236}">
                <a16:creationId xmlns:a16="http://schemas.microsoft.com/office/drawing/2014/main" id="{22B46767-127D-ED42-E12D-499907980F7E}"/>
              </a:ext>
            </a:extLst>
          </p:cNvPr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4359910" y="1981200"/>
            <a:ext cx="4081780" cy="1165225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solidFill>
            <a:schemeClr val="tx2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 fontScale="850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GAPS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TO THE 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MODULES DESCRIPTION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 &amp; RESULTS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GUIDE APPROVAL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TIMELINE / GANTT CHART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fontAlgn="ctr">
              <a:buFont typeface="Wingdings" panose="05000000000000000000" pitchFamily="2" charset="2"/>
              <a:buChar char="v"/>
            </a:pPr>
            <a:endParaRPr lang="en-US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ctr">
              <a:buFont typeface="Wingdings" panose="05000000000000000000" pitchFamily="2" charset="2"/>
              <a:buChar char="v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33920"/>
            <a:ext cx="11521440" cy="1219200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1. PROBLEM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640080" y="1568850"/>
            <a:ext cx="11521440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Alzheimer's disease is a progressive neurodegenerative disorder causing gradual cognitive </a:t>
            </a: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decline. Existing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systems mainly focus on static diagnosis/classification from individual MRI </a:t>
            </a: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scans.</a:t>
            </a:r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They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often fail to model patient-specific disease progression over time</a:t>
            </a: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MRI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clinical history and cognitive assessments are frequently analyzed separately</a:t>
            </a: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Many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deep-learning models provide predictions without sufficient interpretability</a:t>
            </a: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need for an explainable, longitudinal and personalized AI framework for Alzheimer's progression monitoring</a:t>
            </a:r>
            <a:r>
              <a:rPr lang="en-US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dirty="0"/>
              <a:t> </a:t>
            </a:r>
            <a:endParaRPr lang="en-US" sz="2400" dirty="0" smtClean="0"/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Alzheimer's AI systems largely provide point-in-time predictions rather than a continuously evolving, explainable representation of an individual patient's disease progression.</a:t>
            </a:r>
            <a:endParaRPr lang="en-US" alt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33397"/>
            <a:ext cx="11521440" cy="1219200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9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2. INTRODUCTION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731520" y="1819583"/>
            <a:ext cx="11521440" cy="449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Alzheimer’s disease (AD) is a progressive neurodegenerative disorder that causes memory loss, cognitive decline, and gradual loss of functional abilities</a:t>
            </a: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MRI 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clinical assessments provide valuable information about structural and cognitive changes associated with disease progression</a:t>
            </a: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approaches mainly focus on disease classification or detection at a single point in time</a:t>
            </a: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These 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approaches often have limited ability to represent individual patient trajectories, integrate multiple data types, and explain their </a:t>
            </a: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predictions.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Cerebro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 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proposes an AI-powered Digital Brain Twin that integrates longitudinal MRI, clinical, and cognitive information to create a patient-specific representation of disease progression</a:t>
            </a: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aims to predict future progression, provide explainable insights, and support clinical decision-making.</a:t>
            </a:r>
            <a:endParaRPr kumimoji="0" lang="en-US" altLang="en-US" sz="2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2636" y="11339"/>
            <a:ext cx="11521440" cy="1219200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9346707"/>
              </p:ext>
            </p:extLst>
          </p:nvPr>
        </p:nvGraphicFramePr>
        <p:xfrm>
          <a:off x="712636" y="1230539"/>
          <a:ext cx="11498580" cy="6250716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38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4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8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8942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028042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23486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S.No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Article  Title 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261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Predicting Alzheimer’s Disease Progression Using Multi-Modal Deep Learning Approach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(Lee et al., 2019)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it-IT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Multimodal RNN; MRI + CSF + cognitive data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Longitudinal multimodal learning achieved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81% accuracy, AUC 0.86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for MCI→AD prediction.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Requires multiple data modalities.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683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 Deep Learning Model for Early Prediction of Alzheimer’s Disease Dementia Based on Hippocampal MRI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(Li et al., 2019)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Deep learning + time-to-event analysis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Achieved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C-index 0.762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on ADNI and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0.781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on AIBL; combining clinical measures increased C-index to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0.864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Focuses primarily on MCI→AD progression;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does not provide a continuously updated 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patient representation.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1541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Deep Residual Learning for Neuroimaging: An Application to Predict Progression to Alzheimer’s Disease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Abrol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et al., 2020)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ResNet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+ domain transfer learning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Achieved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83.01% test accuracy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for progression-related MRI classification. 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Primarily MRI-based classification;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limited multimodal and longitudinal patient modeling.</a:t>
                      </a:r>
                      <a:endParaRPr lang="en-US" sz="1600" b="1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709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Multimodal Deep Learning for Alzheimer’s Disease Prediction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Basahel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et al., 2021)</a:t>
                      </a:r>
                      <a:endParaRPr lang="en-IN" sz="1600" b="0" dirty="0" smtClean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/>
                      </a:r>
                      <a:br>
                        <a:rPr lang="en-IN" sz="16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endParaRPr lang="en-US" sz="16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Multimodal deep learning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Demonstrated benefits of combining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MRI, clinical and genetic information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for AD prediction.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2400"/>
                        </a:spcAft>
                      </a:pPr>
                      <a:r>
                        <a:rPr lang="en-US" sz="1600" dirty="0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remains prediction/classification rather than a continuously evolving Digital Brain Twin.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224176" y="6780107"/>
            <a:ext cx="2987040" cy="389467"/>
          </a:xfrm>
        </p:spPr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LITERATURE SURVEY (CONTD..,)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9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40677115"/>
              </p:ext>
            </p:extLst>
          </p:nvPr>
        </p:nvGraphicFramePr>
        <p:xfrm>
          <a:off x="665920" y="1540685"/>
          <a:ext cx="11495599" cy="5523387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2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48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9327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0551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9665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 smtClean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S.No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Article  Title 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166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5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Longitudinal MRI-Based Alzheimer’s Disease Progression </a:t>
                      </a:r>
                      <a:r>
                        <a:rPr lang="en-IN" sz="1600" b="1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Modeling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(2024)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2400"/>
                        </a:spcAft>
                      </a:pP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CNN + </a:t>
                      </a: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BiLSTM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Combines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spatial MRI features with temporal information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to model longitudinal disease progression.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Temporal modeling is present, but patient-specific Digital Twin representation and integrated clinical decision support are limited.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6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Smart ROI Detection for Alzheimer’s Disease Prediction Using Explainable AI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Aghaei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et al., 2023)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3D CNN + Grad-CAM + automatic ROI extraction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On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176 MCI ADNI subjects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reported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98.6% accuracy and AUC 1.0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using 5-fold CV.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Strong XAI component, but focused on ROI-based prediction rather than longitudinal Digital Twin modeling.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627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7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An Integrated Predictive Model for Alzheimer’s Disease Progression from Cognitively Normal Subjects Using Generated MRI and Interpretable AI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Aghaei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&amp; </a:t>
                      </a: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Moghaddam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2025)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Ensemble transfer learning + </a:t>
                      </a: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ViT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-GAN + 3D CNN + Grad-CAM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Generated future MRI changes and predicted CN→AD progression; reported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0.85 accuracy and 0.86 F1-score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 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Synthetic MRI generation introduces additional assumptions; primarily focuses on progression prediction rather than a complete Digital Twin framework.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666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LITERATURE SURVEY (CONTD..,)</a:t>
            </a:r>
            <a:endParaRPr lang="en-GB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6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24259374"/>
              </p:ext>
            </p:extLst>
          </p:nvPr>
        </p:nvGraphicFramePr>
        <p:xfrm>
          <a:off x="640080" y="1729526"/>
          <a:ext cx="11521440" cy="4474875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102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3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1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5777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10925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9665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S.No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Article  Title 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Calibri"/>
                          <a:cs typeface="Times New Roman" pitchFamily="18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166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8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Longitudinal MRI + </a:t>
                      </a:r>
                      <a:r>
                        <a:rPr lang="en-IN" sz="1600" b="1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Radiomics</a:t>
                      </a:r>
                      <a:r>
                        <a:rPr lang="en-IN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for Alzheimer’s Progression Prediction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(2025)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2400"/>
                        </a:spcAft>
                      </a:pP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Radiomics</a:t>
                      </a: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+ longitudinal </a:t>
                      </a:r>
                      <a:r>
                        <a:rPr lang="en-IN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modeling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Shows that longitudinal structural MRI features can support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MCI→AD progression prediction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Hand-crafted/</a:t>
                      </a:r>
                      <a:r>
                        <a:rPr lang="en-US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radiomic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features may not capture the full multimodal patient representation.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9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MRI and Clinical Data for Prediction of 12-Month Cognitive Decline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(2026)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Machine learning + MRI + clinical features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Demonstrates the value of combining routine clinical variables with MRI for predicting near-term cognitive decline.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Short prediction horizon;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does not maintain a longitudinal Digital Brain Twin.</a:t>
                      </a:r>
                      <a:endParaRPr lang="en-US" sz="1600" b="1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smtClean="0"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10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Multimodal MRI + Clinical Explainable AI Framework</a:t>
                      </a:r>
                      <a:r>
                        <a:rPr lang="it-IT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(2026)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Transformer-based fusion + Grad-CAM + SHAP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Combines imaging and clinical information while providing both visual and feature-level explanations.</a:t>
                      </a:r>
                      <a:endParaRPr lang="en-US" sz="1600" dirty="0">
                        <a:effectLst/>
                        <a:latin typeface="Times New Roman" pitchFamily="18" charset="0"/>
                        <a:ea typeface="Calibri"/>
                        <a:cs typeface="Times New Roman" pitchFamily="18" charset="0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Explainability</a:t>
                      </a:r>
                      <a:r>
                        <a:rPr lang="en-US" sz="16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and multimodal fusion are addressed, </a:t>
                      </a:r>
                      <a:r>
                        <a:rPr lang="en-US" sz="1600" b="1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but continuous patient-specific Digital Twin modeling remains limited.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243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41799"/>
            <a:ext cx="11521440" cy="1219200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4. RESEARCH GAPS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640080" y="3623345"/>
            <a:ext cx="1152144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40080" y="1759226"/>
            <a:ext cx="11521440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Identified Research </a:t>
            </a:r>
            <a:r>
              <a:rPr lang="en-US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Gaps: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Static Prediction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systems focus on diagnosis at a single time point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Limited Patient Personalization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Population-level models do not fully represent an individual's disease trajectory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Fragmented Multimodal Analysis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MRI, clinical and cognitive information are often processed separately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Limited Longitudinal Modeling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approaches do not maintain a continuously evolving patient representation.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Explainability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Gap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Predictions are often not sufficiently interpretable for clinical users.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Generalization Gap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models are evaluated within the same dataset rather than using independent cohorts.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1981"/>
            <a:ext cx="11521440" cy="1219200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OBJECTIVES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640080" y="3623345"/>
            <a:ext cx="1152144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40080" y="1759226"/>
            <a:ext cx="11521440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Cerebro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 :</a:t>
            </a:r>
            <a:b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multimodal AI system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analyzes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MRI, EEG, and clinical data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Alzheimer’s disease assessment.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detect and classify cognitive impairment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estimate the current stage of Alzheimer’s disease using machine learning/deep learning techniques.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predict disease progression longitudinally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analyzing changes in patient data across multiple time points.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explainable and interpretable predictions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XAI techniques such as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Grad-CAM and SHAP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helping clinicians understand the factors influencing the model’s decision</a:t>
            </a:r>
            <a:r>
              <a:rPr lang="en-US" dirty="0"/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88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/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PROPOSED </a:t>
            </a:r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SOLUTION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640080" y="1649376"/>
            <a:ext cx="11521440" cy="449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Cerebro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 proposes a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multimodal AI-based framework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combines MRI scans, EEG signals, and clinical information to assess Alzheimer’s disease. This allows the system to use complementary information from different patient data sources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will use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and machine learning models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identify cognitive impairment and classify the patient’s condition. It will also analyze longitudinal patient data to identify patterns and estimate possible disease progression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improve transparency,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Cerebro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 will incorporate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techniques such as Grad-CAM and SHAP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show which features influenced the prediction. This makes the system more interpretable and potentially useful as a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decision-support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/>
              <a:t>MRI + EEG + Clinical Data → Multimodal AI Model → Alzheimer’s Assessment → Progression Prediction → XAI Explanation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/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7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ARCHITECTURE 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640080" y="1428193"/>
            <a:ext cx="11521440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Cerebro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X: Proposed Solution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Acquisition: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Longitudinal MRI, clinical &amp; cognitive data.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Normalize, clean, and align patient data.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Extract imaging and clinical features using AI.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Multimodal Fusion: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Combine all patient information.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Brain Twin: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Create a personalized, evolving patient model.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Progression Prediction: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Predict disease stage and future decline.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 Grad-CAM &amp; SHAP for interpretable predictions.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External Validation: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Train on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ADNI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validate on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OASIS-3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Decision Support: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Visualize patient history, progression, and predictions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9088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7061" y="0"/>
            <a:ext cx="5127477" cy="73152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070" y="0"/>
            <a:ext cx="109728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995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/>
          <a:lstStyle/>
          <a:p>
            <a:r>
              <a:rPr lang="en-US" sz="37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itchFamily="18" charset="0"/>
              </a:rPr>
              <a:t>8. 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DATASET DESCRIPTION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640080" y="1635492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497D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1. OASIS-2 (Open Access Series of Imaging Studies – Longitudinal)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640080" y="2028684"/>
            <a:ext cx="11521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Purpose: primary dataset for the clinical GRU and clinical + MRI bimodal fusion models.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Scale: 150 subjects, 373 imaging sessions; 223 usable longitudinal next-visit pairs built for modelling.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Modalities used: clinical/demographic (Age, Education, SES, MMSE, CDR) and MRI-derived structural scalars (nWBV, eTIV, ASF) — not raw 3D MRI volumes.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Split: subject-level split into 160 train / 35 validation / 28 test samples (random seed 42), preventing patient leakage across sets.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Preprocessing: 19-feature per-visit vector (raw values + previous-visit values + visit-to-visit deltas), normalization of Age/EDUC/MMSE/nWBV/eTIV, missing values filled with 0.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640080" y="4544833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497D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2. OpenNeuro ds004504 (EEG Cohort)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640080" y="4938025"/>
            <a:ext cx="11521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Purpose: independent EEG-based binary screening pathway (Disease vs Control), evaluated separately from the CDR-prediction pipeline.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Scale: 87 subjects; pre-extracted spectral band-power features (delta, theta, alpha, beta, gamma; relative powers; theta/alpha ratio; spectral edge frequency), not raw EEG signal.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Important note: this is a separate subject cohort from OASIS-2 — there is no shared patient identity, so EEG outputs cannot currently be fused with the clinical/MRI CDR prediction for the same patient.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956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/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9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MODULES DESCRIPTION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941587"/>
              </p:ext>
            </p:extLst>
          </p:nvPr>
        </p:nvGraphicFramePr>
        <p:xfrm>
          <a:off x="640080" y="1636423"/>
          <a:ext cx="11521440" cy="24003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Module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Input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Algorithm / Model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Output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Clinical Preprocessing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Raw visit records (Age, EDUC, SES, MMSE, CDR, nWBV, eTIV, ASF, …)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Feature engineering: raw + previous-visit + delta features; normalization (z-score style); missing → 0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19-dim per-visit feature vector, sequence of length T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Temporal Clinical GRU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Sequence of 19-dim visit vectors, (1, T, 19)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GRU(input=19, hidden=64, 1 layer) → hₙ[-1] → MLP head: Linear(64,32)→BatchNorm→ReLU→Dropout(0.3)→Linear(32,4)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Next-visit CDR class logits (4 classes) + Zₜ (64-dim)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MRI Scalar Encoder + Bimodal Fusion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MRI scalars (nWBV, eTIV, ASF, nwbvΔ), (1,4)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MLP: Linear(4,32)→BN→ReLU→Dropout→Linear(32,32)→BN→ReLU; concatenated with clinical embedding → Linear(96,48)→BN→ReLU→Dropout→Linear(48,4)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Next-visit CDR class logits (4 classes) + Zₜ (96-dim)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EEG Spectral Screener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107-dim spectral feature vector (12 measured, rest imputed)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MLP: Linear(107,128)→BN→ReLU→Dropout(0.4)→Linear(128,64)→BN→ReLU→Dropout→Linear(64,64)→BN→ReLU→Linear(64,2)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Binary class: Disease (AD/FTD) vs Control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474932"/>
              </p:ext>
            </p:extLst>
          </p:nvPr>
        </p:nvGraphicFramePr>
        <p:xfrm>
          <a:off x="640080" y="4255530"/>
          <a:ext cx="11521440" cy="1920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Module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Input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Algorithm / Model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Output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8E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Digital Brain Twin Extractor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Sequence of visit vectors for one patient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Incremental GRU hidden-state extraction: Z₁=GRU([V₁]), Z₂=GRU([V₁,V₂]), …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Per-visit latent trajectory (T × 64, or T × 96 for bimodal)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Brain Health Index (BHI)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CDR class probabilities, MMSE, nWBV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Rule-based weighted composite: BHI = 0.5×progression + 0.3×cognitive + 0.2×structural score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Composite brain-health score, 0–100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Explainability (SHAP)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Clinical feature vector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Training-time: real SHAP analysis on trained models. Live API: heuristic linear formulas (approximation, pending integration)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Feature-importance ranking (nWBV, MMSE, Age identified as top predictors)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Research API + Dashboard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HTTP requests from browser dashboard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FastAPI routers (predict, brain-twin, eeg, history, patient) + SQLAlchemy/SQLite; Next.js/React frontend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JSON prediction responses; interactive dashboard pages; stored prediction history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561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/>
          <a:lstStyle/>
          <a:p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10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IMPLEMENTATION 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557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/>
          <a:lstStyle/>
          <a:p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11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EVALUATION METRICS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021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/>
          <a:lstStyle/>
          <a:p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12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GUIDE’S APPROVAL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97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1655" y="183617"/>
            <a:ext cx="11521440" cy="1219200"/>
          </a:xfrm>
          <a:solidFill>
            <a:srgbClr val="558ED5"/>
          </a:solidFill>
        </p:spPr>
        <p:txBody>
          <a:bodyPr/>
          <a:lstStyle/>
          <a:p>
            <a:r>
              <a:rPr lang="en-US" sz="37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itchFamily="18" charset="0"/>
              </a:rPr>
              <a:t>13. </a:t>
            </a:r>
            <a:r>
              <a:rPr lang="en-US" sz="37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itchFamily="18" charset="0"/>
              </a:rPr>
              <a:t>TIMELINE / GANTT CHART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186055" y="6780107"/>
            <a:ext cx="2987040" cy="389467"/>
          </a:xfrm>
        </p:spPr>
        <p:txBody>
          <a:bodyPr/>
          <a:lstStyle/>
          <a:p>
            <a:fld id="{C02A2637-A5A3-49FA-B214-6E67543099EF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927825"/>
              </p:ext>
            </p:extLst>
          </p:nvPr>
        </p:nvGraphicFramePr>
        <p:xfrm>
          <a:off x="651655" y="1595583"/>
          <a:ext cx="11521440" cy="5484540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3077051069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4012796718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144362697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3244811884"/>
                    </a:ext>
                  </a:extLst>
                </a:gridCol>
              </a:tblGrid>
              <a:tr h="524080"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S.No</a:t>
                      </a: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Months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Task / Activity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Milestone / Expected Outcome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2636413"/>
                  </a:ext>
                </a:extLst>
              </a:tr>
              <a:tr h="524080"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June–July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Definition &amp; Literature Review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gap and objectives identified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9466247"/>
                  </a:ext>
                </a:extLst>
              </a:tr>
              <a:tr h="755885"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July–Aug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ADNI Dataset Collection &amp; Preprocessing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Clean longitudinal dataset prepared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9742505"/>
                  </a:ext>
                </a:extLst>
              </a:tr>
              <a:tr h="524080"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Aug–Sep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Model &amp; Multimodal Fusion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Baseline prediction model developed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64688622"/>
                  </a:ext>
                </a:extLst>
              </a:tr>
              <a:tr h="755885"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Sep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Digital Brain Twin &amp; Progression Prediction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Patient-specific longitudinal model developed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2773995"/>
                  </a:ext>
                </a:extLst>
              </a:tr>
              <a:tr h="755885"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Sep–Oct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XAI + OASIS-3 External Validation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Explainability</a:t>
                      </a:r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and generalization evaluated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6689379"/>
                  </a:ext>
                </a:extLst>
              </a:tr>
              <a:tr h="987690"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Oct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Evaluation, Dashboard, Paper &amp; Thesis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Final results, prototype and documentation completed</a:t>
                      </a:r>
                    </a:p>
                  </a:txBody>
                  <a:tcPr marL="60471" marR="60471" marT="30235" marB="302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25183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14. 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REFERENCES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640080" y="1724451"/>
            <a:ext cx="11521440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Lee, G., </a:t>
            </a:r>
            <a:r>
              <a:rPr lang="en-IN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Nho</a:t>
            </a:r>
            <a:r>
              <a:rPr lang="en-IN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K., Kang, B., </a:t>
            </a:r>
            <a:r>
              <a:rPr lang="en-IN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Sohn</a:t>
            </a:r>
            <a:r>
              <a:rPr lang="en-IN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K.-A., &amp; Kim, D. (2019). </a:t>
            </a:r>
            <a:r>
              <a:rPr lang="en-IN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Predicting Alzheimer’s disease progression using multi-modal deep learning approach. Scientific Reports, 9, 1952. </a:t>
            </a:r>
            <a:r>
              <a:rPr lang="en-IN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</a:t>
            </a:r>
            <a:r>
              <a:rPr lang="en-IN" dirty="0" smtClean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doi.org/10.1038/s41598-018-37769-z</a:t>
            </a:r>
            <a:r>
              <a:rPr lang="en-IN" dirty="0" smtClean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 smtClean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Li, H.,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Habes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M., Fan, Y., et al. (2019).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deep learning model for early prediction of Alzheimer’s disease dementia based on hippocampal MRI.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Alzheimer’s &amp; Dementia, 15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(8), 1059–1070.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doi.org/10.1016/j.jalz.2019.02.007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Li, H., Fan, Y., &amp; Alzheimer’s Disease Neuroimaging Initiative. (2019).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Early prediction of Alzheimer’s disease dementia based on baseline hippocampal MRI and 1-year follow-up cognitive measures using deep recurrent neural networks.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Proceedings of IEEE International Symposium on Biomedical Imaging (ISBI)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368–371. https://doi.org/10.1109/ISBI.2019.8759397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99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REFERENCES (CONTD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..)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40080" y="1628503"/>
            <a:ext cx="11521440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Abrol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A.,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Bhattarai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M.,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Fedorov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A., et al. (2020).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Deep residual learning for neuroimaging: An application to predict progression to Alzheimer’s disease.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 of Neuroscience Methods, 339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108701.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doi.org/10.1016/j.jneumeth.2020.108701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Venugopalan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J., Tong, L.,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Hassanzadeh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H. R., &amp; Wang, M. D. (2021).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Multimodal deep learning models for early detection of Alzheimer’s disease stage.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Scientific Reports, 11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3254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://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doi.org/10.1038/s41598-020-74399-w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Aghaei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A., &amp;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Ebrahimi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Moghaddam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M. (2023).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Smart ROI detection for Alzheimer’s disease prediction using explainable AI.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[Preprint]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Y., &amp; Zhang, H. (2026).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Machine-learning prediction and risk stratification of 12-month cognitive decline in Alzheimer’s disease using routine clinical and MRI data.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Scientific Reports, 16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12227. https://doi.org/10.1038/s41598-026-43321-1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677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REFERENCES (CONTD</a:t>
            </a:r>
            <a:r>
              <a:rPr lang="en-US" sz="37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..)</a:t>
            </a:r>
            <a:endParaRPr lang="en-US" sz="37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21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40080" y="1812175"/>
            <a:ext cx="11521440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LaMontagne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P. J., et al. (2018).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OASIS-3: Longitudinal neuroimaging, clinical, and cognitive dataset for normal aging and Alzheimer’s disease.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Alzheimer’s &amp; Dementia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doi.org/10.1016/j.jalz.2018.06.2231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Wang, D., Florian, H., Lynch, S. Y., et al. (2025).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Assessment of AI-generated digital twin methodology on reduction of treatment effect variance and potential clinical trial sample size saving using a Phase 2 trial dataset from patients with Alzheimer’s disease.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Alzheimer’s &amp; Dementia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doi.org/10.1002/alz.090685</a:t>
            </a: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Huang, Y., Zhang, Y.,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Michopoulou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S.,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Kipps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C., &amp; Attar, R. (2026).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Transition-based digital twin modelling for Alzheimer’s disease under sparse longitudinal data. </a:t>
            </a:r>
            <a:r>
              <a:rPr lang="en-I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arXiv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preprint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 smtClean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 smtClean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8385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cs typeface="Times New Roman" pitchFamily="18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6962</TotalTime>
  <Words>2539</Words>
  <Application>Microsoft Office PowerPoint</Application>
  <PresentationFormat>Custom</PresentationFormat>
  <Paragraphs>266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Times New Roman</vt:lpstr>
      <vt:lpstr>Wingdings</vt:lpstr>
      <vt:lpstr>Office Theme</vt:lpstr>
      <vt:lpstr>CEREBRO-X : An AI-Powered Digital Brain Twin Framework for Alzheimer's Disease Progression Prediction</vt:lpstr>
      <vt:lpstr>CONTENTS</vt:lpstr>
      <vt:lpstr>1. PROBLEM STATEMENT</vt:lpstr>
      <vt:lpstr>2. INTRODUCTION</vt:lpstr>
      <vt:lpstr>3.LITERATURE SURVEY</vt:lpstr>
      <vt:lpstr>LITERATURE SURVEY (CONTD..,)</vt:lpstr>
      <vt:lpstr>LITERATURE SURVEY (CONTD..,)</vt:lpstr>
      <vt:lpstr>4. RESEARCH GAPS</vt:lpstr>
      <vt:lpstr>5. OBJECTIVES</vt:lpstr>
      <vt:lpstr>6. PROPOSED SOLUTION </vt:lpstr>
      <vt:lpstr>7. ARCHITECTURE </vt:lpstr>
      <vt:lpstr>PowerPoint Presentation</vt:lpstr>
      <vt:lpstr>8. DATASET DESCRIPTION </vt:lpstr>
      <vt:lpstr>9. MODULES DESCRIPTION</vt:lpstr>
      <vt:lpstr>10. IMPLEMENTATION </vt:lpstr>
      <vt:lpstr>11. EVALUATION METRICS</vt:lpstr>
      <vt:lpstr>12. GUIDE’S APPROVAL</vt:lpstr>
      <vt:lpstr>13. TIMELINE / GANTT CHART</vt:lpstr>
      <vt:lpstr>14. REFERENCES</vt:lpstr>
      <vt:lpstr>REFERENCES (CONTD..)</vt:lpstr>
      <vt:lpstr>REFERENCES (CONTD..)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Brain Tumor Detection from MRI Images Using Deep Learning and Flask</dc:title>
  <dc:creator>HP</dc:creator>
  <cp:lastModifiedBy>HP</cp:lastModifiedBy>
  <cp:revision>59</cp:revision>
  <dcterms:modified xsi:type="dcterms:W3CDTF">2026-09-28T14:33:28Z</dcterms:modified>
</cp:coreProperties>
</file>